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16"/>
  </p:notesMasterIdLst>
  <p:sldIdLst>
    <p:sldId id="256" r:id="rId3"/>
    <p:sldId id="257" r:id="rId4"/>
    <p:sldId id="268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 type="screen16x9"/>
  <p:notesSz cx="6858000" cy="9144000"/>
  <p:embeddedFontLst>
    <p:embeddedFont>
      <p:font typeface="Nunito Sans" pitchFamily="2" charset="0"/>
      <p:regular r:id="rId17"/>
      <p:bold r:id="rId18"/>
      <p:italic r:id="rId19"/>
      <p:boldItalic r:id="rId20"/>
    </p:embeddedFont>
    <p:embeddedFont>
      <p:font typeface="Play" panose="020B0604020202020204" charset="0"/>
      <p:regular r:id="rId21"/>
      <p:bold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B16C3E8-A3B4-4CAE-A72B-9407BAFACDD6}">
  <a:tblStyle styleId="{8B16C3E8-A3B4-4CAE-A72B-9407BAFACD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c8ef7e2e2_3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bc8ef7e2e2_3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c8ef7e2e2_3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bc8ef7e2e2_3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9AC2F31D-B226-58D9-1425-C67FF8E5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c8ef7e2e2_3_93:notes">
            <a:extLst>
              <a:ext uri="{FF2B5EF4-FFF2-40B4-BE49-F238E27FC236}">
                <a16:creationId xmlns:a16="http://schemas.microsoft.com/office/drawing/2014/main" id="{C110D43C-AEDC-3F09-35DB-68D305EC9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bc8ef7e2e2_3_93:notes">
            <a:extLst>
              <a:ext uri="{FF2B5EF4-FFF2-40B4-BE49-F238E27FC236}">
                <a16:creationId xmlns:a16="http://schemas.microsoft.com/office/drawing/2014/main" id="{B889A356-6137-958B-5984-693E4B08F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4274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c8b057dd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bc8b057dd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bc8b057dd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g3bc8b057dd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c8b057dd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bc8b057dd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c8b057dd2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g3bc8b057dd2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bc8b057dd2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3bc8b057dd2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bc8b057dd2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g3bc8b057dd2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bc8b057dd2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3bc8b057dd2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bc8b057dd2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bc8b057dd2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bc8b057dd2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g3bc8b057dd2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bc8b057dd2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3bc8b057dd2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7" r:id="rId2"/>
    <p:sldLayoutId id="2147483668" r:id="rId3"/>
    <p:sldLayoutId id="214748366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171600"/>
            <a:ext cx="9144000" cy="4800300"/>
          </a:xfrm>
          <a:prstGeom prst="rect">
            <a:avLst/>
          </a:prstGeom>
          <a:blipFill rotWithShape="1">
            <a:blip r:embed="rId3">
              <a:alphaModFix amt="30000"/>
            </a:blip>
            <a:stretch>
              <a:fillRect t="-38619"/>
            </a:stretch>
          </a:blip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5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5"/>
          <p:cNvSpPr/>
          <p:nvPr/>
        </p:nvSpPr>
        <p:spPr>
          <a:xfrm>
            <a:off x="4927108" y="4972927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5"/>
          <p:cNvSpPr/>
          <p:nvPr/>
        </p:nvSpPr>
        <p:spPr>
          <a:xfrm>
            <a:off x="-8853" y="4972927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-22108" y="1052776"/>
            <a:ext cx="9144000" cy="4254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Minor Project Synopsis Presentation</a:t>
            </a:r>
            <a:endParaRPr sz="2400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MindSpace</a:t>
            </a:r>
            <a:endParaRPr sz="2400" b="1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Project Category: </a:t>
            </a:r>
            <a:r>
              <a:rPr lang="en-IN" sz="2200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University Based Problem Statement</a:t>
            </a:r>
            <a:endParaRPr sz="2200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Submitted in partial fulfilment of the requirement of the degree of</a:t>
            </a:r>
            <a:br>
              <a:rPr lang="en" sz="1800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</a:br>
            <a:r>
              <a:rPr lang="en" sz="2200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  </a:t>
            </a:r>
            <a:r>
              <a:rPr lang="en" sz="2000" b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Bachelor of Technology</a:t>
            </a:r>
            <a:endParaRPr sz="2000" b="1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 sz="2000" b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in </a:t>
            </a:r>
            <a:endParaRPr sz="2000" b="1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Computer Science And Engineering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algn="ctr">
              <a:buClr>
                <a:schemeClr val="dk1"/>
              </a:buClr>
            </a:pPr>
            <a:r>
              <a:rPr lang="en" sz="2000" i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Submitted by Projexa Team -</a:t>
            </a:r>
            <a:r>
              <a:rPr lang="en" sz="2000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 </a:t>
            </a:r>
            <a:r>
              <a:rPr lang="en-IN" sz="2000" dirty="0"/>
              <a:t>26E1055 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2000" i="1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id="135" name="Google Shape;135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60308" y="200474"/>
            <a:ext cx="4078117" cy="823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26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6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6"/>
          <p:cNvSpPr/>
          <p:nvPr/>
        </p:nvSpPr>
        <p:spPr>
          <a:xfrm>
            <a:off x="4927108" y="4972927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6"/>
          <p:cNvSpPr/>
          <p:nvPr/>
        </p:nvSpPr>
        <p:spPr>
          <a:xfrm>
            <a:off x="-8853" y="4972927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-8850" y="164450"/>
            <a:ext cx="55809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6" name="Google Shape;146;p26"/>
          <p:cNvSpPr txBox="1"/>
          <p:nvPr/>
        </p:nvSpPr>
        <p:spPr>
          <a:xfrm>
            <a:off x="2850" y="750000"/>
            <a:ext cx="9153000" cy="854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Project Title</a:t>
            </a:r>
            <a:r>
              <a:rPr lang="en" sz="1800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 </a:t>
            </a:r>
            <a:endParaRPr sz="1800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MindSpace: Student Sentiment and Risk Analysis</a:t>
            </a:r>
            <a:endParaRPr sz="1600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sp>
        <p:nvSpPr>
          <p:cNvPr id="147" name="Google Shape;147;p26"/>
          <p:cNvSpPr txBox="1"/>
          <p:nvPr/>
        </p:nvSpPr>
        <p:spPr>
          <a:xfrm>
            <a:off x="8803958" y="4921958"/>
            <a:ext cx="34004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8" name="Google Shape;148;p26"/>
          <p:cNvGraphicFramePr/>
          <p:nvPr>
            <p:extLst>
              <p:ext uri="{D42A27DB-BD31-4B8C-83A1-F6EECF244321}">
                <p14:modId xmlns:p14="http://schemas.microsoft.com/office/powerpoint/2010/main" val="4207950339"/>
              </p:ext>
            </p:extLst>
          </p:nvPr>
        </p:nvGraphicFramePr>
        <p:xfrm>
          <a:off x="1788875" y="2069088"/>
          <a:ext cx="5580950" cy="2560110"/>
        </p:xfrm>
        <a:graphic>
          <a:graphicData uri="http://schemas.openxmlformats.org/drawingml/2006/table">
            <a:tbl>
              <a:tblPr>
                <a:noFill/>
                <a:tableStyleId>{8B16C3E8-A3B4-4CAE-A72B-9407BAFACDD6}</a:tableStyleId>
              </a:tblPr>
              <a:tblGrid>
                <a:gridCol w="27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0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Student Name</a:t>
                      </a:r>
                      <a:endParaRPr sz="1200" b="1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Roll number</a:t>
                      </a:r>
                      <a:endParaRPr sz="1200" b="1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41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Harsh Dev Jha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2501010168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Manas Bhasker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2501010226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Trijal Garg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2501010072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Rishita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2501010228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Krishyangi Dixit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2501010156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Kumari Pratibha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2501010123</a:t>
                      </a:r>
                      <a:endParaRPr sz="12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9" name="Google Shape;149;p26"/>
          <p:cNvSpPr txBox="1"/>
          <p:nvPr/>
        </p:nvSpPr>
        <p:spPr>
          <a:xfrm>
            <a:off x="1781550" y="1527300"/>
            <a:ext cx="55809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Sem-II Minor Project Synopsis</a:t>
            </a:r>
            <a:br>
              <a:rPr lang="en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n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Submitted By</a:t>
            </a:r>
            <a:endParaRPr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0" name="Google Shape;150;p26"/>
          <p:cNvSpPr txBox="1"/>
          <p:nvPr/>
        </p:nvSpPr>
        <p:spPr>
          <a:xfrm>
            <a:off x="-8850" y="4140275"/>
            <a:ext cx="1790400" cy="7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Faculty Mentor:</a:t>
            </a:r>
            <a:endParaRPr sz="1600" b="1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Dr. Shahid Ahmad Wani </a:t>
            </a:r>
            <a:endParaRPr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E26B726F-40E7-326A-7498-4F2E0A7A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>
            <a:extLst>
              <a:ext uri="{FF2B5EF4-FFF2-40B4-BE49-F238E27FC236}">
                <a16:creationId xmlns:a16="http://schemas.microsoft.com/office/drawing/2014/main" id="{408F926B-590D-B970-683A-5232446DE4A5}"/>
              </a:ext>
            </a:extLst>
          </p:cNvPr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26">
            <a:extLst>
              <a:ext uri="{FF2B5EF4-FFF2-40B4-BE49-F238E27FC236}">
                <a16:creationId xmlns:a16="http://schemas.microsoft.com/office/drawing/2014/main" id="{0CCE9BE5-285F-1904-001C-F198EB1FFC39}"/>
              </a:ext>
            </a:extLst>
          </p:cNvPr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6">
            <a:extLst>
              <a:ext uri="{FF2B5EF4-FFF2-40B4-BE49-F238E27FC236}">
                <a16:creationId xmlns:a16="http://schemas.microsoft.com/office/drawing/2014/main" id="{60EFEADF-0BA4-9835-F85E-6CD81BEEE90E}"/>
              </a:ext>
            </a:extLst>
          </p:cNvPr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6">
            <a:extLst>
              <a:ext uri="{FF2B5EF4-FFF2-40B4-BE49-F238E27FC236}">
                <a16:creationId xmlns:a16="http://schemas.microsoft.com/office/drawing/2014/main" id="{D0D2AA3A-0A7E-9072-435D-AB7EA8684AE9}"/>
              </a:ext>
            </a:extLst>
          </p:cNvPr>
          <p:cNvSpPr/>
          <p:nvPr/>
        </p:nvSpPr>
        <p:spPr>
          <a:xfrm>
            <a:off x="4927108" y="4972927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6">
            <a:extLst>
              <a:ext uri="{FF2B5EF4-FFF2-40B4-BE49-F238E27FC236}">
                <a16:creationId xmlns:a16="http://schemas.microsoft.com/office/drawing/2014/main" id="{DC672B15-8F98-D659-3D99-A78FAC53B727}"/>
              </a:ext>
            </a:extLst>
          </p:cNvPr>
          <p:cNvSpPr/>
          <p:nvPr/>
        </p:nvSpPr>
        <p:spPr>
          <a:xfrm>
            <a:off x="-8853" y="4972927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6">
            <a:extLst>
              <a:ext uri="{FF2B5EF4-FFF2-40B4-BE49-F238E27FC236}">
                <a16:creationId xmlns:a16="http://schemas.microsoft.com/office/drawing/2014/main" id="{81CCD99E-E97C-582E-626D-985E7061E7A5}"/>
              </a:ext>
            </a:extLst>
          </p:cNvPr>
          <p:cNvSpPr txBox="1"/>
          <p:nvPr/>
        </p:nvSpPr>
        <p:spPr>
          <a:xfrm>
            <a:off x="-8850" y="164450"/>
            <a:ext cx="55809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Role Division</a:t>
            </a:r>
            <a:endParaRPr sz="30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7" name="Google Shape;147;p26">
            <a:extLst>
              <a:ext uri="{FF2B5EF4-FFF2-40B4-BE49-F238E27FC236}">
                <a16:creationId xmlns:a16="http://schemas.microsoft.com/office/drawing/2014/main" id="{221F4127-F58C-561A-EA29-BEDD24BA0204}"/>
              </a:ext>
            </a:extLst>
          </p:cNvPr>
          <p:cNvSpPr txBox="1"/>
          <p:nvPr/>
        </p:nvSpPr>
        <p:spPr>
          <a:xfrm>
            <a:off x="8803958" y="4921958"/>
            <a:ext cx="34004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8" name="Google Shape;148;p26">
            <a:extLst>
              <a:ext uri="{FF2B5EF4-FFF2-40B4-BE49-F238E27FC236}">
                <a16:creationId xmlns:a16="http://schemas.microsoft.com/office/drawing/2014/main" id="{DACDC565-9D33-3E94-8BFE-D3267B5FCE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6887135"/>
              </p:ext>
            </p:extLst>
          </p:nvPr>
        </p:nvGraphicFramePr>
        <p:xfrm>
          <a:off x="422980" y="872715"/>
          <a:ext cx="8534400" cy="3391795"/>
        </p:xfrm>
        <a:graphic>
          <a:graphicData uri="http://schemas.openxmlformats.org/drawingml/2006/table">
            <a:tbl>
              <a:tblPr>
                <a:noFill/>
                <a:tableStyleId>{8B16C3E8-A3B4-4CAE-A72B-9407BAFACDD6}</a:tableStyleId>
              </a:tblPr>
              <a:tblGrid>
                <a:gridCol w="426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Student Name</a:t>
                      </a:r>
                      <a:endParaRPr sz="800" b="1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 dirty="0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Role</a:t>
                      </a:r>
                      <a:endParaRPr sz="800" b="1" dirty="0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41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Harsh Dev Jha</a:t>
                      </a:r>
                      <a:endParaRPr sz="8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• Setting up the </a:t>
                      </a:r>
                      <a:r>
                        <a:rPr lang="en-US" sz="800" b="1" dirty="0"/>
                        <a:t>Flask</a:t>
                      </a:r>
                      <a:r>
                        <a:rPr lang="en-US" sz="800" dirty="0"/>
                        <a:t> environment and directory structure.</a:t>
                      </a:r>
                    </a:p>
                    <a:p>
                      <a:pPr algn="ctr"/>
                      <a:r>
                        <a:rPr lang="en-US" sz="800" dirty="0"/>
                        <a:t>• Designing </a:t>
                      </a:r>
                      <a:r>
                        <a:rPr lang="en-US" sz="800" b="1" dirty="0"/>
                        <a:t>RESTful Routes</a:t>
                      </a:r>
                      <a:r>
                        <a:rPr lang="en-US" sz="800" dirty="0"/>
                        <a:t> (e.g., 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/upload</a:t>
                      </a:r>
                      <a:r>
                        <a:rPr lang="en-US" sz="800" dirty="0"/>
                        <a:t>, 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/edit</a:t>
                      </a:r>
                      <a:r>
                        <a:rPr lang="en-US" sz="800" dirty="0"/>
                        <a:t>).</a:t>
                      </a:r>
                    </a:p>
                    <a:p>
                      <a:pPr algn="ctr"/>
                      <a:r>
                        <a:rPr lang="en-US" sz="800" dirty="0"/>
                        <a:t>• Managing the database connection for session storage.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Manas Bhasker</a:t>
                      </a:r>
                      <a:endParaRPr sz="8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• Implementing the </a:t>
                      </a:r>
                      <a:r>
                        <a:rPr lang="en-US" sz="800" b="1" dirty="0"/>
                        <a:t>Burnout Algorithm</a:t>
                      </a:r>
                      <a:r>
                        <a:rPr lang="en-US" sz="800" dirty="0"/>
                        <a:t> logic 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(Study/Sleep)*Stress</a:t>
                      </a:r>
                      <a:r>
                        <a:rPr lang="en-US" sz="800" dirty="0"/>
                        <a:t>).</a:t>
                      </a:r>
                    </a:p>
                    <a:p>
                      <a:pPr algn="ctr"/>
                      <a:r>
                        <a:rPr lang="en-US" sz="800" dirty="0"/>
                        <a:t>• Handling </a:t>
                      </a:r>
                      <a:r>
                        <a:rPr lang="en-US" sz="800" b="1" dirty="0"/>
                        <a:t>Data Cleaning</a:t>
                      </a:r>
                      <a:r>
                        <a:rPr lang="en-US" sz="800" dirty="0"/>
                        <a:t> (removing outliers/nulls).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Trijal Garg</a:t>
                      </a:r>
                      <a:endParaRPr sz="8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• Integrating </a:t>
                      </a:r>
                      <a:r>
                        <a:rPr lang="en-US" sz="800" b="1" dirty="0"/>
                        <a:t>NLTK/VADER</a:t>
                      </a:r>
                      <a:r>
                        <a:rPr lang="en-US" sz="800" dirty="0"/>
                        <a:t> to score text feedback.</a:t>
                      </a:r>
                    </a:p>
                    <a:p>
                      <a:pPr algn="ctr"/>
                      <a:r>
                        <a:rPr lang="en-US" sz="800" dirty="0"/>
                        <a:t>• creating logic to compare "Mood Scores" vs. "Burnout Scores".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Rishita</a:t>
                      </a:r>
                      <a:endParaRPr sz="8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800" dirty="0"/>
                        <a:t>• Designing </a:t>
                      </a:r>
                      <a:r>
                        <a:rPr lang="en-IN" sz="800" b="1" dirty="0"/>
                        <a:t>HTML5/CSS3</a:t>
                      </a:r>
                      <a:r>
                        <a:rPr lang="en-IN" sz="800" dirty="0"/>
                        <a:t> templates.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• Creating the </a:t>
                      </a:r>
                      <a:r>
                        <a:rPr lang="en-US" sz="800" b="1" dirty="0"/>
                        <a:t>Upload Portal</a:t>
                      </a:r>
                      <a:r>
                        <a:rPr lang="en-US" sz="800" dirty="0"/>
                        <a:t> and </a:t>
                      </a:r>
                      <a:r>
                        <a:rPr lang="en-US" sz="800" b="1" dirty="0"/>
                        <a:t>Editing Table</a:t>
                      </a:r>
                      <a:r>
                        <a:rPr lang="en-US" sz="800" dirty="0"/>
                        <a:t> interface.</a:t>
                      </a:r>
                      <a:endParaRPr sz="8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Krishyangi Dixit</a:t>
                      </a:r>
                      <a:endParaRPr sz="8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• </a:t>
                      </a:r>
                      <a:r>
                        <a:rPr lang="en-US" sz="800" b="1" dirty="0"/>
                        <a:t>Debugging</a:t>
                      </a:r>
                      <a:endParaRPr lang="en-US" sz="800" dirty="0"/>
                    </a:p>
                    <a:p>
                      <a:pPr algn="ctr"/>
                      <a:r>
                        <a:rPr lang="en-US" sz="800" dirty="0"/>
                        <a:t>•</a:t>
                      </a:r>
                      <a:r>
                        <a:rPr lang="en-US" sz="800" b="1" dirty="0"/>
                        <a:t>System Testing:</a:t>
                      </a:r>
                      <a:r>
                        <a:rPr lang="en-US" sz="800" dirty="0"/>
                        <a:t> Validating CRUD operations and error handling. </a:t>
                      </a:r>
                    </a:p>
                    <a:p>
                      <a:pPr algn="ctr"/>
                      <a:r>
                        <a:rPr lang="en-US" sz="800" dirty="0"/>
                        <a:t>• </a:t>
                      </a:r>
                      <a:r>
                        <a:rPr lang="en-US" sz="800" b="1" dirty="0"/>
                        <a:t>Documentation:</a:t>
                      </a:r>
                      <a:r>
                        <a:rPr lang="en-US" sz="800" dirty="0"/>
                        <a:t> Writing the Synopsis, Final Report, and ReadMe.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dirty="0">
                          <a:solidFill>
                            <a:schemeClr val="dk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Kumari Pratibha</a:t>
                      </a:r>
                      <a:endParaRPr sz="8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• Designing the </a:t>
                      </a:r>
                      <a:r>
                        <a:rPr lang="en-US" sz="800" b="1" dirty="0"/>
                        <a:t>Analytical Dashboard</a:t>
                      </a:r>
                      <a:r>
                        <a:rPr lang="en-US" sz="800" dirty="0"/>
                        <a:t>.</a:t>
                      </a:r>
                    </a:p>
                    <a:p>
                      <a:pPr algn="ctr"/>
                      <a:r>
                        <a:rPr lang="en-US" sz="800" dirty="0"/>
                        <a:t>• Integrating </a:t>
                      </a:r>
                      <a:r>
                        <a:rPr lang="en-US" sz="800" b="1" dirty="0"/>
                        <a:t>Matplotlib/Chart.js</a:t>
                      </a:r>
                      <a:r>
                        <a:rPr lang="en-US" sz="800" dirty="0"/>
                        <a:t> to generate Heatmaps &amp; Pie Charts.</a:t>
                      </a:r>
                    </a:p>
                    <a:p>
                      <a:pPr algn="ctr"/>
                      <a:r>
                        <a:rPr lang="en-US" sz="800" dirty="0"/>
                        <a:t>• Ensuring charts update dynamically when data is edited.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solidFill>
                          <a:schemeClr val="dk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0" name="Google Shape;150;p26">
            <a:extLst>
              <a:ext uri="{FF2B5EF4-FFF2-40B4-BE49-F238E27FC236}">
                <a16:creationId xmlns:a16="http://schemas.microsoft.com/office/drawing/2014/main" id="{A0084991-9354-EF21-BCDD-DC1016AC31DC}"/>
              </a:ext>
            </a:extLst>
          </p:cNvPr>
          <p:cNvSpPr txBox="1"/>
          <p:nvPr/>
        </p:nvSpPr>
        <p:spPr>
          <a:xfrm>
            <a:off x="125121" y="4296377"/>
            <a:ext cx="2863562" cy="7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Faculty Mentor:</a:t>
            </a:r>
            <a:endParaRPr sz="1600" b="1"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Nunito Sans"/>
                <a:ea typeface="Nunito Sans"/>
                <a:cs typeface="Nunito Sans"/>
                <a:sym typeface="Nunito Sans"/>
              </a:rPr>
              <a:t>Dr. Shahid Ahmad Wani </a:t>
            </a:r>
            <a:endParaRPr dirty="0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</p:spTree>
    <p:extLst>
      <p:ext uri="{BB962C8B-B14F-4D97-AF65-F5344CB8AC3E}">
        <p14:creationId xmlns:p14="http://schemas.microsoft.com/office/powerpoint/2010/main" val="1194083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7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7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7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7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7"/>
          <p:cNvSpPr txBox="1"/>
          <p:nvPr/>
        </p:nvSpPr>
        <p:spPr>
          <a:xfrm>
            <a:off x="-8850" y="164450"/>
            <a:ext cx="55809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Overview</a:t>
            </a:r>
            <a:endParaRPr sz="30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1" name="Google Shape;161;p27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2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B6053412-3203-CE4B-3D72-226FB47BF6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140" y="946834"/>
            <a:ext cx="878571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What is Mind Space?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full-stack web application designed to analyze student burnout using a multidimensional approach.</a:t>
            </a: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The Core Problem:</a:t>
            </a:r>
            <a:endParaRPr lang="en-US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monitoring is episodic (once a semester) and reactive.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data is often "noisy" and lacks emotional context.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Solution: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Metrics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(Sleep, Study, Stress) with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Qualitative Analysis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(Sentiment in feedback).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 a dynamic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"Editing Section"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clean data in real-time.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8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8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8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8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8"/>
          <p:cNvSpPr txBox="1"/>
          <p:nvPr/>
        </p:nvSpPr>
        <p:spPr>
          <a:xfrm>
            <a:off x="-8850" y="164450"/>
            <a:ext cx="55809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Specific Objectives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3" name="Google Shape;173;p28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3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1C574F0-0CBF-67D5-7C96-9B523F2F80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606" y="1542995"/>
            <a:ext cx="858678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Data Management: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Develop a Flask portal for ingesting CSV datasets and performing </a:t>
            </a: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CRUD operations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(Create, Read, Update, Delete).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Burnout Quantification: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Compute a </a:t>
            </a: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"Burnout Index"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using a weighted algorithm based on lifestyle factors.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Sentiment Analysis: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Utilize </a:t>
            </a: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NLTK (VADER)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to detect latent distress in textual student feedback.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Risk Visualization: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Generate real-time heatmaps and trend lines to classify students into </a:t>
            </a: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Low, Medium, and High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risk categories.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9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9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9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9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9"/>
          <p:cNvSpPr txBox="1"/>
          <p:nvPr/>
        </p:nvSpPr>
        <p:spPr>
          <a:xfrm>
            <a:off x="-8850" y="164450"/>
            <a:ext cx="55809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Features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5" name="Google Shape;185;p29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4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7B700EE-7659-B587-3ECC-0EF46FFEF9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2928" y="1194168"/>
            <a:ext cx="8146732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Secure Data Portal: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Easy ingestion of large-scale academic datasets (CSV/Excel).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Interactive Editing Suite: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Allows researchers to fix outliers (e.g., invalid sleep hours) instantly within the browser.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Automated Scoring Engine: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Automatically calculates risk scores as soon as data is uploaded or modified.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Sentiment Intelligence: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Flags students who report "okay" grades but use distress-signal words in feedback.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Dynamic Dashboard: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Visualizations update in real-time as the underlying data changes.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/>
          <p:nvPr/>
        </p:nvSpPr>
        <p:spPr>
          <a:xfrm>
            <a:off x="-275" y="16962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0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0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0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30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-8850" y="164450"/>
            <a:ext cx="55809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Usecases &amp; Scope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7" name="Google Shape;197;p30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5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F7DD073-9124-4D25-8DB4-5770E4D6DD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650" y="1060252"/>
            <a:ext cx="7791450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Target Audience / Use-cases: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University Counselors: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To identify "High Risk" students who need immediate intervention.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Administrators: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To track semester-wide stress trends against exam schedules.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Researchers: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To correlate lifestyle habits (sleep vs. study) with mental health outcomes.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Project Scope: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In-Scope: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Web interface, Data cleaning, Burnout Algorithm, Sentiment Analysis, Visualization.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Out-of-Scope: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Medical diagnosis, mobile app version, integration with live biometric sensors.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1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1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31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1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31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31"/>
          <p:cNvSpPr txBox="1"/>
          <p:nvPr/>
        </p:nvSpPr>
        <p:spPr>
          <a:xfrm>
            <a:off x="-8850" y="164450"/>
            <a:ext cx="91440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Flow diagram/Architecture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9" name="Google Shape;209;p31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6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1"/>
          <p:cNvSpPr txBox="1"/>
          <p:nvPr/>
        </p:nvSpPr>
        <p:spPr>
          <a:xfrm>
            <a:off x="4983480" y="3989386"/>
            <a:ext cx="3966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Poppins"/>
                <a:ea typeface="Poppins"/>
                <a:cs typeface="Poppins"/>
                <a:sym typeface="Poppins"/>
              </a:rPr>
              <a:t>System Architecture showing Data Flow from Input CSV to NLTK Vader</a:t>
            </a:r>
            <a:endParaRPr sz="1600" dirty="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E27775-F619-D35E-241C-0F1B57FA67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2000"/>
            <a:ext cx="4331466" cy="26259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C695CFD-EC4E-4337-BF9E-4107CB9B0B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3574" t="6144" r="15418"/>
          <a:stretch>
            <a:fillRect/>
          </a:stretch>
        </p:blipFill>
        <p:spPr>
          <a:xfrm>
            <a:off x="1188721" y="1102097"/>
            <a:ext cx="3124200" cy="2625951"/>
          </a:xfrm>
          <a:prstGeom prst="rect">
            <a:avLst/>
          </a:prstGeom>
        </p:spPr>
      </p:pic>
      <p:sp>
        <p:nvSpPr>
          <p:cNvPr id="4" name="Google Shape;210;p31">
            <a:extLst>
              <a:ext uri="{FF2B5EF4-FFF2-40B4-BE49-F238E27FC236}">
                <a16:creationId xmlns:a16="http://schemas.microsoft.com/office/drawing/2014/main" id="{1267A0CA-BDE6-DBC1-F7EC-21020B78F23C}"/>
              </a:ext>
            </a:extLst>
          </p:cNvPr>
          <p:cNvSpPr txBox="1"/>
          <p:nvPr/>
        </p:nvSpPr>
        <p:spPr>
          <a:xfrm>
            <a:off x="596850" y="3989386"/>
            <a:ext cx="3966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Poppins"/>
                <a:ea typeface="Poppins"/>
                <a:cs typeface="Poppins"/>
                <a:sym typeface="Poppins"/>
              </a:rPr>
              <a:t>System Architecture showing Data Flow For Analysis</a:t>
            </a:r>
            <a:endParaRPr sz="1600" dirty="0"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559515-6B3D-4D73-D550-70CCD09E7319}"/>
              </a:ext>
            </a:extLst>
          </p:cNvPr>
          <p:cNvCxnSpPr/>
          <p:nvPr/>
        </p:nvCxnSpPr>
        <p:spPr>
          <a:xfrm>
            <a:off x="4686300" y="912000"/>
            <a:ext cx="0" cy="37544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-8850" y="164450"/>
            <a:ext cx="91440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and Resources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7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CE34896-846B-F642-4FDB-F0A56C11B6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640" y="1291803"/>
            <a:ext cx="812554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Data Sources: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Student Stress Dataset (Kaggle):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For calibration of lifestyle metrics (Sleep, Study, Stress).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Student Mental Health Dataset: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For validating risk factors.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Reddit Mental Health Text: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Used to test the VADER sentiment engine on informal language.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Hardware/Software: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Language: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Python 3.x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Database: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SQLite (Session storage)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IDE: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VS Code / PyCharm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3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3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3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3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3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33"/>
          <p:cNvSpPr txBox="1"/>
          <p:nvPr/>
        </p:nvSpPr>
        <p:spPr>
          <a:xfrm>
            <a:off x="-8850" y="164450"/>
            <a:ext cx="91440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Methodology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4" name="Google Shape;234;p33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8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1937573-DF9F-FF56-D613-AC1B37C981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385" y="1053155"/>
            <a:ext cx="8515350" cy="3462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 Stack:</a:t>
            </a:r>
            <a:endParaRPr lang="en-US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Flask (Python) - </a:t>
            </a:r>
            <a:r>
              <a:rPr lang="en-US" alt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Chosen for lightweight routing.</a:t>
            </a:r>
            <a:endParaRPr lang="en-US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Analytics: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Pandas &amp; NumPy - </a:t>
            </a:r>
            <a:r>
              <a:rPr lang="en-US" alt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Chosen for vectorized data cleaning.</a:t>
            </a:r>
            <a:endParaRPr lang="en-US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NLP: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NLTK - Natural Language Tool Kit (VADER – Valence Aware Dictionary and </a:t>
            </a:r>
            <a:r>
              <a:rPr lang="en-US" alt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Reasoner) - </a:t>
            </a:r>
            <a:r>
              <a:rPr lang="en-US" alt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Chosen for efficient, rule-based sentiment scoring.</a:t>
            </a:r>
            <a:endParaRPr lang="en-US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HTML5, CSS3.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Algorithm:</a:t>
            </a:r>
            <a:endParaRPr lang="en-US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Formula: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Burnout Score = ((Study / Sleep) * Stress) * 10$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Sentiment: Compound Polarity Score (-1 to +1).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endParaRPr lang="en-US" alt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2A0253-6351-4460-B17F-66890980F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8" y="2971801"/>
            <a:ext cx="4622245" cy="647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4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4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4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34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4"/>
          <p:cNvSpPr txBox="1"/>
          <p:nvPr/>
        </p:nvSpPr>
        <p:spPr>
          <a:xfrm>
            <a:off x="-8850" y="164450"/>
            <a:ext cx="91440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Expected Results &amp; Impact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6" name="Google Shape;246;p34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9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2831BFC-C5EF-AFC2-2165-67C1E8B73D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515" y="1198858"/>
            <a:ext cx="8656886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Deliverables: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A fully functional web tool for real-time mental health monitoring.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Visual risk profiling (Pie Charts &amp; Histograms).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Impact:</a:t>
            </a: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Early Detection: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Shifts focus from "Lagging Indicators" (Grades) to "Leading Indicators" (Sleep/Sentiment).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Data Integrity: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Empowers educators to trust their data by removing outliers before analysis.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Holistic View: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Bridges the gap between hard numbers and human feelings.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None/>
            </a:pPr>
            <a:endParaRPr lang="en-US" altLang="en-US" sz="18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5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5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5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5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5"/>
          <p:cNvSpPr txBox="1"/>
          <p:nvPr/>
        </p:nvSpPr>
        <p:spPr>
          <a:xfrm>
            <a:off x="-8850" y="164450"/>
            <a:ext cx="91440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Timeline</a:t>
            </a:r>
            <a:endParaRPr sz="30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259" name="Google Shape;259;p35"/>
          <p:cNvGraphicFramePr/>
          <p:nvPr>
            <p:extLst>
              <p:ext uri="{D42A27DB-BD31-4B8C-83A1-F6EECF244321}">
                <p14:modId xmlns:p14="http://schemas.microsoft.com/office/powerpoint/2010/main" val="3634676877"/>
              </p:ext>
            </p:extLst>
          </p:nvPr>
        </p:nvGraphicFramePr>
        <p:xfrm>
          <a:off x="952500" y="1619250"/>
          <a:ext cx="7239000" cy="2590620"/>
        </p:xfrm>
        <a:graphic>
          <a:graphicData uri="http://schemas.openxmlformats.org/drawingml/2006/table">
            <a:tbl>
              <a:tblPr>
                <a:noFill/>
                <a:tableStyleId>{8B16C3E8-A3B4-4CAE-A72B-9407BAFACDD6}</a:tableStyleId>
              </a:tblPr>
              <a:tblGrid>
                <a:gridCol w="152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8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lt1"/>
                          </a:solidFill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Week</a:t>
                      </a:r>
                      <a:endParaRPr sz="1400" b="1" dirty="0">
                        <a:solidFill>
                          <a:schemeClr val="lt1"/>
                        </a:solidFill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21E2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lt1"/>
                          </a:solidFill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Task</a:t>
                      </a:r>
                      <a:endParaRPr sz="1400" b="1" dirty="0">
                        <a:solidFill>
                          <a:schemeClr val="lt1"/>
                        </a:solidFill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41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Weeks 1-3</a:t>
                      </a:r>
                      <a:endParaRPr sz="1400" dirty="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Topic Selection, Team Formation, &amp; Synopsis Submission</a:t>
                      </a:r>
                      <a:endParaRPr sz="1400" dirty="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Weeks 4-6</a:t>
                      </a:r>
                      <a:endParaRPr sz="140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Data Collection, Literature Review, Backend Integration &amp; Mid-Term Viva</a:t>
                      </a:r>
                      <a:endParaRPr sz="1400" dirty="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>
                          <a:solidFill>
                            <a:schemeClr val="dk1"/>
                          </a:solidFill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Weeks 7-9</a:t>
                      </a:r>
                      <a:endParaRPr sz="140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Re-designing the "Burnout Algorithm" &amp; Database Schema.</a:t>
                      </a:r>
                      <a:endParaRPr sz="1400" dirty="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>
                          <a:solidFill>
                            <a:schemeClr val="dk1"/>
                          </a:solidFill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Weeks 10-11</a:t>
                      </a:r>
                      <a:endParaRPr sz="140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99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Frontend Development (Dashboard &amp; Editing Suite).</a:t>
                      </a:r>
                      <a:endParaRPr sz="1400" dirty="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FC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>
                          <a:solidFill>
                            <a:schemeClr val="dk1"/>
                          </a:solidFill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Weeks 12-14</a:t>
                      </a:r>
                      <a:endParaRPr sz="140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latin typeface="Poppins" panose="00000500000000000000" pitchFamily="2" charset="0"/>
                          <a:ea typeface="Poppins"/>
                          <a:cs typeface="Poppins" panose="00000500000000000000" pitchFamily="2" charset="0"/>
                          <a:sym typeface="Poppins"/>
                        </a:rPr>
                        <a:t>Final Report Writing, Demo Video, &amp; Final Submission</a:t>
                      </a:r>
                      <a:endParaRPr sz="1400" dirty="0">
                        <a:latin typeface="Poppins" panose="00000500000000000000" pitchFamily="2" charset="0"/>
                        <a:ea typeface="Poppins"/>
                        <a:cs typeface="Poppins" panose="00000500000000000000" pitchFamily="2" charset="0"/>
                        <a:sym typeface="Poppi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6"/>
          <p:cNvSpPr/>
          <p:nvPr/>
        </p:nvSpPr>
        <p:spPr>
          <a:xfrm>
            <a:off x="-275" y="162000"/>
            <a:ext cx="9153000" cy="588000"/>
          </a:xfrm>
          <a:prstGeom prst="rect">
            <a:avLst/>
          </a:prstGeom>
          <a:solidFill>
            <a:srgbClr val="D9E5F8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6"/>
          <p:cNvSpPr/>
          <p:nvPr/>
        </p:nvSpPr>
        <p:spPr>
          <a:xfrm>
            <a:off x="4160520" y="0"/>
            <a:ext cx="4995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6"/>
          <p:cNvSpPr/>
          <p:nvPr/>
        </p:nvSpPr>
        <p:spPr>
          <a:xfrm>
            <a:off x="2858" y="0"/>
            <a:ext cx="4158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6"/>
          <p:cNvSpPr/>
          <p:nvPr/>
        </p:nvSpPr>
        <p:spPr>
          <a:xfrm>
            <a:off x="4927108" y="4972928"/>
            <a:ext cx="4239000" cy="162000"/>
          </a:xfrm>
          <a:prstGeom prst="rect">
            <a:avLst/>
          </a:prstGeom>
          <a:solidFill>
            <a:srgbClr val="341BF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6"/>
          <p:cNvSpPr/>
          <p:nvPr/>
        </p:nvSpPr>
        <p:spPr>
          <a:xfrm>
            <a:off x="-8853" y="4972928"/>
            <a:ext cx="4941000" cy="162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6"/>
          <p:cNvSpPr txBox="1"/>
          <p:nvPr/>
        </p:nvSpPr>
        <p:spPr>
          <a:xfrm>
            <a:off x="0" y="2040363"/>
            <a:ext cx="9144000" cy="10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</a:t>
            </a:r>
            <a:r>
              <a:rPr lang="en" sz="64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" sz="6400" b="1">
                <a:solidFill>
                  <a:srgbClr val="341BF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YOU</a:t>
            </a:r>
            <a:endParaRPr sz="6400" b="1">
              <a:solidFill>
                <a:srgbClr val="341BF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0" name="Google Shape;270;p36"/>
          <p:cNvSpPr txBox="1"/>
          <p:nvPr/>
        </p:nvSpPr>
        <p:spPr>
          <a:xfrm>
            <a:off x="8803958" y="4921958"/>
            <a:ext cx="3399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11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950</Words>
  <Application>Microsoft Office PowerPoint</Application>
  <PresentationFormat>On-screen Show (16:9)</PresentationFormat>
  <Paragraphs>140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Poppins</vt:lpstr>
      <vt:lpstr>Arial</vt:lpstr>
      <vt:lpstr>Nunito Sans</vt:lpstr>
      <vt:lpstr>Play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Harsh Dev Jha</cp:lastModifiedBy>
  <cp:revision>41</cp:revision>
  <dcterms:modified xsi:type="dcterms:W3CDTF">2026-02-04T06:13:23Z</dcterms:modified>
</cp:coreProperties>
</file>