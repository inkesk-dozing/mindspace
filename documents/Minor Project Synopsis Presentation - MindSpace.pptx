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  <p:sldMasterId id="2147483671" r:id="rId2"/>
  </p:sldMasterIdLst>
  <p:notesMasterIdLst>
    <p:notesMasterId r:id="rId20"/>
  </p:notesMasterIdLst>
  <p:sldIdLst>
    <p:sldId id="256" r:id="rId3"/>
    <p:sldId id="257" r:id="rId4"/>
    <p:sldId id="268" r:id="rId5"/>
    <p:sldId id="258" r:id="rId6"/>
    <p:sldId id="259" r:id="rId7"/>
    <p:sldId id="260" r:id="rId8"/>
    <p:sldId id="273" r:id="rId9"/>
    <p:sldId id="272" r:id="rId10"/>
    <p:sldId id="264" r:id="rId11"/>
    <p:sldId id="262" r:id="rId12"/>
    <p:sldId id="270" r:id="rId13"/>
    <p:sldId id="271" r:id="rId14"/>
    <p:sldId id="266" r:id="rId15"/>
    <p:sldId id="263" r:id="rId16"/>
    <p:sldId id="261" r:id="rId17"/>
    <p:sldId id="265" r:id="rId18"/>
    <p:sldId id="267" r:id="rId19"/>
  </p:sldIdLst>
  <p:sldSz cx="9144000" cy="5143500" type="screen16x9"/>
  <p:notesSz cx="6858000" cy="9144000"/>
  <p:embeddedFontLst>
    <p:embeddedFont>
      <p:font typeface="Nunito Sans" pitchFamily="2" charset="0"/>
      <p:regular r:id="rId21"/>
      <p:bold r:id="rId22"/>
      <p:italic r:id="rId23"/>
      <p:boldItalic r:id="rId24"/>
    </p:embeddedFont>
    <p:embeddedFont>
      <p:font typeface="Play" panose="020B0604020202020204" charset="0"/>
      <p:regular r:id="rId25"/>
      <p:bold r:id="rId26"/>
    </p:embeddedFont>
    <p:embeddedFont>
      <p:font typeface="Poppins" panose="00000500000000000000" pitchFamily="2" charset="0"/>
      <p:regular r:id="rId27"/>
      <p:bold r:id="rId28"/>
      <p:italic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B16C3E8-A3B4-4CAE-A72B-9407BAFACDD6}">
  <a:tblStyle styleId="{8B16C3E8-A3B4-4CAE-A72B-9407BAFACDD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5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font" Target="fonts/font6.fntdata"/><Relationship Id="rId3" Type="http://schemas.openxmlformats.org/officeDocument/2006/relationships/slide" Target="slides/slide1.xml"/><Relationship Id="rId21" Type="http://schemas.openxmlformats.org/officeDocument/2006/relationships/font" Target="fonts/font1.fntdata"/><Relationship Id="rId34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5.fntdata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4.fntdata"/><Relationship Id="rId32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bc8ef7e2e2_3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g3bc8ef7e2e2_3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bc8ef7e2e2_3_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g3bc8ef7e2e2_3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>
          <a:extLst>
            <a:ext uri="{FF2B5EF4-FFF2-40B4-BE49-F238E27FC236}">
              <a16:creationId xmlns:a16="http://schemas.microsoft.com/office/drawing/2014/main" id="{9AC2F31D-B226-58D9-1425-C67FF8E5DB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bc8ef7e2e2_3_93:notes">
            <a:extLst>
              <a:ext uri="{FF2B5EF4-FFF2-40B4-BE49-F238E27FC236}">
                <a16:creationId xmlns:a16="http://schemas.microsoft.com/office/drawing/2014/main" id="{C110D43C-AEDC-3F09-35DB-68D305EC94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g3bc8ef7e2e2_3_93:notes">
            <a:extLst>
              <a:ext uri="{FF2B5EF4-FFF2-40B4-BE49-F238E27FC236}">
                <a16:creationId xmlns:a16="http://schemas.microsoft.com/office/drawing/2014/main" id="{B889A356-6137-958B-5984-693E4B08F97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842744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bc8b057dd2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g3bc8b057dd2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bc8b057dd2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g3bc8b057dd2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bc8b057dd2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g3bc8b057dd2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622DA171-FA86-8E68-C19C-7FEE037FC8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bc8b057dd2_0_106:notes">
            <a:extLst>
              <a:ext uri="{FF2B5EF4-FFF2-40B4-BE49-F238E27FC236}">
                <a16:creationId xmlns:a16="http://schemas.microsoft.com/office/drawing/2014/main" id="{385579CB-661D-C2B6-519F-E51CE3E009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g3bc8b057dd2_0_106:notes">
            <a:extLst>
              <a:ext uri="{FF2B5EF4-FFF2-40B4-BE49-F238E27FC236}">
                <a16:creationId xmlns:a16="http://schemas.microsoft.com/office/drawing/2014/main" id="{65A400BC-5D63-6961-B715-48F6B09442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960341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E5686FC1-CF75-0195-BF78-2B0A61B68E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bc8b057dd2_0_106:notes">
            <a:extLst>
              <a:ext uri="{FF2B5EF4-FFF2-40B4-BE49-F238E27FC236}">
                <a16:creationId xmlns:a16="http://schemas.microsoft.com/office/drawing/2014/main" id="{C611CF26-50E2-C08A-F9B6-398A893DE10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g3bc8b057dd2_0_106:notes">
            <a:extLst>
              <a:ext uri="{FF2B5EF4-FFF2-40B4-BE49-F238E27FC236}">
                <a16:creationId xmlns:a16="http://schemas.microsoft.com/office/drawing/2014/main" id="{C198EA35-25D3-AF8A-BFAA-F3DAEA5CDF4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596220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bc8b057dd2_0_1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g3bc8b057dd2_0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bc8b057dd2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g3bc8b057dd2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>
          <a:extLst>
            <a:ext uri="{FF2B5EF4-FFF2-40B4-BE49-F238E27FC236}">
              <a16:creationId xmlns:a16="http://schemas.microsoft.com/office/drawing/2014/main" id="{D63F3233-BE43-FBD2-CB8B-A2F7CCEE45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bc8b057dd2_0_62:notes">
            <a:extLst>
              <a:ext uri="{FF2B5EF4-FFF2-40B4-BE49-F238E27FC236}">
                <a16:creationId xmlns:a16="http://schemas.microsoft.com/office/drawing/2014/main" id="{0BE06316-C030-8D83-96A8-DFA5C19A37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g3bc8b057dd2_0_62:notes">
            <a:extLst>
              <a:ext uri="{FF2B5EF4-FFF2-40B4-BE49-F238E27FC236}">
                <a16:creationId xmlns:a16="http://schemas.microsoft.com/office/drawing/2014/main" id="{2A2F1CB8-DB61-696F-D67A-5603F39E2C9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1938077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>
          <a:extLst>
            <a:ext uri="{FF2B5EF4-FFF2-40B4-BE49-F238E27FC236}">
              <a16:creationId xmlns:a16="http://schemas.microsoft.com/office/drawing/2014/main" id="{B2BED9F9-7120-C7BE-3DD0-CCC107F817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bc8b057dd2_0_62:notes">
            <a:extLst>
              <a:ext uri="{FF2B5EF4-FFF2-40B4-BE49-F238E27FC236}">
                <a16:creationId xmlns:a16="http://schemas.microsoft.com/office/drawing/2014/main" id="{EDF4F471-7EC6-B324-E092-E576939CD0C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g3bc8b057dd2_0_62:notes">
            <a:extLst>
              <a:ext uri="{FF2B5EF4-FFF2-40B4-BE49-F238E27FC236}">
                <a16:creationId xmlns:a16="http://schemas.microsoft.com/office/drawing/2014/main" id="{BE82FB1D-DB1D-CFEF-4AF6-C938CD53835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5213942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bc8b057dd2_0_1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g3bc8b057dd2_0_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bc8b057dd2_0_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g3bc8b057dd2_0_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bc8b057dd2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g3bc8b057dd2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bc8b057dd2_0_1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g3bc8b057dd2_0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bc8b057dd2_0_1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g3bc8b057dd2_0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22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10" name="Google Shape;110;p2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2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23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16" name="Google Shape;116;p2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2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24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22" name="Google Shape;122;p2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2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2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  <a:defRPr sz="33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7" r:id="rId2"/>
    <p:sldLayoutId id="2147483668" r:id="rId3"/>
    <p:sldLayoutId id="2147483669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/>
          <p:nvPr/>
        </p:nvSpPr>
        <p:spPr>
          <a:xfrm>
            <a:off x="0" y="171600"/>
            <a:ext cx="9144000" cy="4800300"/>
          </a:xfrm>
          <a:prstGeom prst="rect">
            <a:avLst/>
          </a:prstGeom>
          <a:blipFill rotWithShape="1">
            <a:blip r:embed="rId3">
              <a:alphaModFix amt="30000"/>
            </a:blip>
            <a:stretch>
              <a:fillRect t="-38619"/>
            </a:stretch>
          </a:blip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25"/>
          <p:cNvSpPr/>
          <p:nvPr/>
        </p:nvSpPr>
        <p:spPr>
          <a:xfrm>
            <a:off x="4160520" y="0"/>
            <a:ext cx="4995000" cy="162000"/>
          </a:xfrm>
          <a:prstGeom prst="rect">
            <a:avLst/>
          </a:prstGeom>
          <a:solidFill>
            <a:srgbClr val="341BF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25"/>
          <p:cNvSpPr/>
          <p:nvPr/>
        </p:nvSpPr>
        <p:spPr>
          <a:xfrm>
            <a:off x="2858" y="0"/>
            <a:ext cx="4158000" cy="162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25"/>
          <p:cNvSpPr/>
          <p:nvPr/>
        </p:nvSpPr>
        <p:spPr>
          <a:xfrm>
            <a:off x="4927108" y="4972927"/>
            <a:ext cx="4239000" cy="162000"/>
          </a:xfrm>
          <a:prstGeom prst="rect">
            <a:avLst/>
          </a:prstGeom>
          <a:solidFill>
            <a:srgbClr val="341BF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25"/>
          <p:cNvSpPr/>
          <p:nvPr/>
        </p:nvSpPr>
        <p:spPr>
          <a:xfrm>
            <a:off x="-8853" y="4972927"/>
            <a:ext cx="4941000" cy="162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25"/>
          <p:cNvSpPr txBox="1"/>
          <p:nvPr/>
        </p:nvSpPr>
        <p:spPr>
          <a:xfrm>
            <a:off x="-22108" y="1052776"/>
            <a:ext cx="9144000" cy="42549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Minor Project Synopsis Presentation</a:t>
            </a:r>
            <a:endParaRPr sz="2400" dirty="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 dirty="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Team Name </a:t>
            </a:r>
            <a:r>
              <a:rPr lang="en-IN" sz="2400" dirty="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– </a:t>
            </a:r>
            <a:r>
              <a:rPr lang="en-IN" sz="2400" dirty="0" err="1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Error_Runtime</a:t>
            </a:r>
            <a:endParaRPr sz="2400" dirty="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MindSpace</a:t>
            </a:r>
            <a:endParaRPr sz="2400" b="1" dirty="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 dirty="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Project Category: </a:t>
            </a:r>
            <a:r>
              <a:rPr lang="en-IN" sz="2200" dirty="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University Based Problem Statement</a:t>
            </a:r>
            <a:endParaRPr sz="2200" dirty="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i="1" dirty="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Submitted in partial fulfilment of the requirement of the degree of</a:t>
            </a:r>
            <a:br>
              <a:rPr lang="en" sz="1800" dirty="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</a:br>
            <a:r>
              <a:rPr lang="en" sz="2200" dirty="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  </a:t>
            </a:r>
            <a:r>
              <a:rPr lang="en" sz="2000" b="1" dirty="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Bachelor of Technology</a:t>
            </a:r>
            <a:endParaRPr sz="2000" b="1" dirty="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2000" b="1" dirty="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in </a:t>
            </a:r>
            <a:endParaRPr sz="2000" b="1" dirty="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Computer Science And Engineering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1" dirty="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1" dirty="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algn="ctr">
              <a:buClr>
                <a:schemeClr val="dk1"/>
              </a:buClr>
            </a:pPr>
            <a:r>
              <a:rPr lang="en" sz="2000" i="1" dirty="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Submitted by Projexa Team -</a:t>
            </a:r>
            <a:r>
              <a:rPr lang="en" sz="2000" dirty="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 </a:t>
            </a:r>
            <a:r>
              <a:rPr lang="en-IN" sz="2000" dirty="0"/>
              <a:t>26E1055 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2000" i="1" dirty="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pic>
        <p:nvPicPr>
          <p:cNvPr id="135" name="Google Shape;135;p2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60308" y="200474"/>
            <a:ext cx="4078117" cy="8234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6"/>
          <p:cNvSpPr/>
          <p:nvPr/>
        </p:nvSpPr>
        <p:spPr>
          <a:xfrm>
            <a:off x="-275" y="162000"/>
            <a:ext cx="9153000" cy="588000"/>
          </a:xfrm>
          <a:prstGeom prst="rect">
            <a:avLst/>
          </a:prstGeom>
          <a:solidFill>
            <a:srgbClr val="D9E5F8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26"/>
          <p:cNvSpPr/>
          <p:nvPr/>
        </p:nvSpPr>
        <p:spPr>
          <a:xfrm>
            <a:off x="4160520" y="0"/>
            <a:ext cx="4995000" cy="162000"/>
          </a:xfrm>
          <a:prstGeom prst="rect">
            <a:avLst/>
          </a:prstGeom>
          <a:solidFill>
            <a:srgbClr val="341BF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26"/>
          <p:cNvSpPr/>
          <p:nvPr/>
        </p:nvSpPr>
        <p:spPr>
          <a:xfrm>
            <a:off x="2858" y="0"/>
            <a:ext cx="4158000" cy="162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26"/>
          <p:cNvSpPr/>
          <p:nvPr/>
        </p:nvSpPr>
        <p:spPr>
          <a:xfrm>
            <a:off x="4927108" y="4972927"/>
            <a:ext cx="4239000" cy="162000"/>
          </a:xfrm>
          <a:prstGeom prst="rect">
            <a:avLst/>
          </a:prstGeom>
          <a:solidFill>
            <a:srgbClr val="341BF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26"/>
          <p:cNvSpPr/>
          <p:nvPr/>
        </p:nvSpPr>
        <p:spPr>
          <a:xfrm>
            <a:off x="-8853" y="4972927"/>
            <a:ext cx="4941000" cy="162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26"/>
          <p:cNvSpPr txBox="1"/>
          <p:nvPr/>
        </p:nvSpPr>
        <p:spPr>
          <a:xfrm>
            <a:off x="-8850" y="164450"/>
            <a:ext cx="5580900" cy="5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sz="30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6" name="Google Shape;146;p26"/>
          <p:cNvSpPr txBox="1"/>
          <p:nvPr/>
        </p:nvSpPr>
        <p:spPr>
          <a:xfrm>
            <a:off x="2850" y="750000"/>
            <a:ext cx="9153000" cy="854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Project Title</a:t>
            </a:r>
            <a:r>
              <a:rPr lang="en" sz="1800" dirty="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 </a:t>
            </a:r>
            <a:endParaRPr sz="1800" dirty="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MindSpace: Student Sentiment and Risk Analysis</a:t>
            </a:r>
            <a:endParaRPr sz="1600" dirty="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47" name="Google Shape;147;p26"/>
          <p:cNvSpPr txBox="1"/>
          <p:nvPr/>
        </p:nvSpPr>
        <p:spPr>
          <a:xfrm>
            <a:off x="8803958" y="4921958"/>
            <a:ext cx="340043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48" name="Google Shape;148;p26"/>
          <p:cNvGraphicFramePr/>
          <p:nvPr>
            <p:extLst>
              <p:ext uri="{D42A27DB-BD31-4B8C-83A1-F6EECF244321}">
                <p14:modId xmlns:p14="http://schemas.microsoft.com/office/powerpoint/2010/main" val="4207950339"/>
              </p:ext>
            </p:extLst>
          </p:nvPr>
        </p:nvGraphicFramePr>
        <p:xfrm>
          <a:off x="1788875" y="2069088"/>
          <a:ext cx="5580950" cy="2560110"/>
        </p:xfrm>
        <a:graphic>
          <a:graphicData uri="http://schemas.openxmlformats.org/drawingml/2006/table">
            <a:tbl>
              <a:tblPr>
                <a:noFill/>
                <a:tableStyleId>{8B16C3E8-A3B4-4CAE-A72B-9407BAFACDD6}</a:tableStyleId>
              </a:tblPr>
              <a:tblGrid>
                <a:gridCol w="2790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90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39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Student Name</a:t>
                      </a:r>
                      <a:endParaRPr sz="1200" b="1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Roll number</a:t>
                      </a:r>
                      <a:endParaRPr sz="1200" b="1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41B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39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Harsh Dev Jha</a:t>
                      </a:r>
                      <a:endParaRPr sz="1200" dirty="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2501010168</a:t>
                      </a:r>
                      <a:endParaRPr sz="1200" dirty="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FA8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39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Manas Bhasker</a:t>
                      </a:r>
                      <a:endParaRPr sz="1200" dirty="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2501010226</a:t>
                      </a:r>
                      <a:endParaRPr sz="1200" dirty="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FC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39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Trijal Garg</a:t>
                      </a:r>
                      <a:endParaRPr sz="1200" dirty="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2501010072</a:t>
                      </a:r>
                      <a:endParaRPr sz="1200" dirty="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FA8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39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Rishita</a:t>
                      </a:r>
                      <a:endParaRPr sz="1200" dirty="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2501010228</a:t>
                      </a:r>
                      <a:endParaRPr sz="1200" dirty="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FC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39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Krishyangi Dixit</a:t>
                      </a:r>
                      <a:endParaRPr sz="1200" dirty="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2501010156</a:t>
                      </a:r>
                      <a:endParaRPr sz="1200" dirty="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FA8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39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Kumari Pratibha</a:t>
                      </a:r>
                      <a:endParaRPr sz="1200" dirty="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2501010123</a:t>
                      </a:r>
                      <a:endParaRPr sz="1200" dirty="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FC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49" name="Google Shape;149;p26"/>
          <p:cNvSpPr txBox="1"/>
          <p:nvPr/>
        </p:nvSpPr>
        <p:spPr>
          <a:xfrm>
            <a:off x="1781550" y="1527300"/>
            <a:ext cx="5580900" cy="5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Sem-II Minor Project Synopsis</a:t>
            </a:r>
            <a:br>
              <a:rPr lang="en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Submitted By</a:t>
            </a:r>
            <a:endParaRPr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0" name="Google Shape;150;p26"/>
          <p:cNvSpPr txBox="1"/>
          <p:nvPr/>
        </p:nvSpPr>
        <p:spPr>
          <a:xfrm>
            <a:off x="-8850" y="4140275"/>
            <a:ext cx="1790400" cy="7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Faculty Mentor:</a:t>
            </a:r>
            <a:endParaRPr sz="1600" b="1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Dr. Shahid Ahmad Wani </a:t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>
          <a:extLst>
            <a:ext uri="{FF2B5EF4-FFF2-40B4-BE49-F238E27FC236}">
              <a16:creationId xmlns:a16="http://schemas.microsoft.com/office/drawing/2014/main" id="{E26B726F-40E7-326A-7498-4F2E0A7A0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6">
            <a:extLst>
              <a:ext uri="{FF2B5EF4-FFF2-40B4-BE49-F238E27FC236}">
                <a16:creationId xmlns:a16="http://schemas.microsoft.com/office/drawing/2014/main" id="{408F926B-590D-B970-683A-5232446DE4A5}"/>
              </a:ext>
            </a:extLst>
          </p:cNvPr>
          <p:cNvSpPr/>
          <p:nvPr/>
        </p:nvSpPr>
        <p:spPr>
          <a:xfrm>
            <a:off x="-275" y="162000"/>
            <a:ext cx="9153000" cy="588000"/>
          </a:xfrm>
          <a:prstGeom prst="rect">
            <a:avLst/>
          </a:prstGeom>
          <a:solidFill>
            <a:srgbClr val="D9E5F8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26">
            <a:extLst>
              <a:ext uri="{FF2B5EF4-FFF2-40B4-BE49-F238E27FC236}">
                <a16:creationId xmlns:a16="http://schemas.microsoft.com/office/drawing/2014/main" id="{0CCE9BE5-285F-1904-001C-F198EB1FFC39}"/>
              </a:ext>
            </a:extLst>
          </p:cNvPr>
          <p:cNvSpPr/>
          <p:nvPr/>
        </p:nvSpPr>
        <p:spPr>
          <a:xfrm>
            <a:off x="4160520" y="0"/>
            <a:ext cx="4995000" cy="162000"/>
          </a:xfrm>
          <a:prstGeom prst="rect">
            <a:avLst/>
          </a:prstGeom>
          <a:solidFill>
            <a:srgbClr val="341BF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26">
            <a:extLst>
              <a:ext uri="{FF2B5EF4-FFF2-40B4-BE49-F238E27FC236}">
                <a16:creationId xmlns:a16="http://schemas.microsoft.com/office/drawing/2014/main" id="{60EFEADF-0BA4-9835-F85E-6CD81BEEE90E}"/>
              </a:ext>
            </a:extLst>
          </p:cNvPr>
          <p:cNvSpPr/>
          <p:nvPr/>
        </p:nvSpPr>
        <p:spPr>
          <a:xfrm>
            <a:off x="2858" y="0"/>
            <a:ext cx="4158000" cy="162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26">
            <a:extLst>
              <a:ext uri="{FF2B5EF4-FFF2-40B4-BE49-F238E27FC236}">
                <a16:creationId xmlns:a16="http://schemas.microsoft.com/office/drawing/2014/main" id="{D0D2AA3A-0A7E-9072-435D-AB7EA8684AE9}"/>
              </a:ext>
            </a:extLst>
          </p:cNvPr>
          <p:cNvSpPr/>
          <p:nvPr/>
        </p:nvSpPr>
        <p:spPr>
          <a:xfrm>
            <a:off x="4927108" y="4972927"/>
            <a:ext cx="4239000" cy="162000"/>
          </a:xfrm>
          <a:prstGeom prst="rect">
            <a:avLst/>
          </a:prstGeom>
          <a:solidFill>
            <a:srgbClr val="341BF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26">
            <a:extLst>
              <a:ext uri="{FF2B5EF4-FFF2-40B4-BE49-F238E27FC236}">
                <a16:creationId xmlns:a16="http://schemas.microsoft.com/office/drawing/2014/main" id="{DC672B15-8F98-D659-3D99-A78FAC53B727}"/>
              </a:ext>
            </a:extLst>
          </p:cNvPr>
          <p:cNvSpPr/>
          <p:nvPr/>
        </p:nvSpPr>
        <p:spPr>
          <a:xfrm>
            <a:off x="-8853" y="4972927"/>
            <a:ext cx="4941000" cy="162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26">
            <a:extLst>
              <a:ext uri="{FF2B5EF4-FFF2-40B4-BE49-F238E27FC236}">
                <a16:creationId xmlns:a16="http://schemas.microsoft.com/office/drawing/2014/main" id="{81CCD99E-E97C-582E-626D-985E7061E7A5}"/>
              </a:ext>
            </a:extLst>
          </p:cNvPr>
          <p:cNvSpPr txBox="1"/>
          <p:nvPr/>
        </p:nvSpPr>
        <p:spPr>
          <a:xfrm>
            <a:off x="-8850" y="164450"/>
            <a:ext cx="5580900" cy="5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Role Division</a:t>
            </a:r>
            <a:endParaRPr sz="30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7" name="Google Shape;147;p26">
            <a:extLst>
              <a:ext uri="{FF2B5EF4-FFF2-40B4-BE49-F238E27FC236}">
                <a16:creationId xmlns:a16="http://schemas.microsoft.com/office/drawing/2014/main" id="{221F4127-F58C-561A-EA29-BEDD24BA0204}"/>
              </a:ext>
            </a:extLst>
          </p:cNvPr>
          <p:cNvSpPr txBox="1"/>
          <p:nvPr/>
        </p:nvSpPr>
        <p:spPr>
          <a:xfrm>
            <a:off x="8803958" y="4921958"/>
            <a:ext cx="340043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48" name="Google Shape;148;p26">
            <a:extLst>
              <a:ext uri="{FF2B5EF4-FFF2-40B4-BE49-F238E27FC236}">
                <a16:creationId xmlns:a16="http://schemas.microsoft.com/office/drawing/2014/main" id="{DACDC565-9D33-3E94-8BFE-D3267B5FCEC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36887135"/>
              </p:ext>
            </p:extLst>
          </p:nvPr>
        </p:nvGraphicFramePr>
        <p:xfrm>
          <a:off x="422980" y="872715"/>
          <a:ext cx="8534400" cy="3391795"/>
        </p:xfrm>
        <a:graphic>
          <a:graphicData uri="http://schemas.openxmlformats.org/drawingml/2006/table">
            <a:tbl>
              <a:tblPr>
                <a:noFill/>
                <a:tableStyleId>{8B16C3E8-A3B4-4CAE-A72B-9407BAFACDD6}</a:tableStyleId>
              </a:tblPr>
              <a:tblGrid>
                <a:gridCol w="426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6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39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 dirty="0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Student Name</a:t>
                      </a:r>
                      <a:endParaRPr sz="800" b="1" dirty="0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 anchor="ctr"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 dirty="0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Role</a:t>
                      </a:r>
                      <a:endParaRPr sz="800" b="1" dirty="0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 anchor="ctr"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41B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39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dirty="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Harsh Dev Jha</a:t>
                      </a:r>
                      <a:endParaRPr sz="800" dirty="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• Setting up the </a:t>
                      </a:r>
                      <a:r>
                        <a:rPr lang="en-US" sz="800" b="1" dirty="0"/>
                        <a:t>Flask</a:t>
                      </a:r>
                      <a:r>
                        <a:rPr lang="en-US" sz="800" dirty="0"/>
                        <a:t> environment and directory structure.</a:t>
                      </a:r>
                    </a:p>
                    <a:p>
                      <a:pPr algn="ctr"/>
                      <a:r>
                        <a:rPr lang="en-US" sz="800" dirty="0"/>
                        <a:t>• Designing </a:t>
                      </a:r>
                      <a:r>
                        <a:rPr lang="en-US" sz="800" b="1" dirty="0"/>
                        <a:t>RESTful Routes</a:t>
                      </a:r>
                      <a:r>
                        <a:rPr lang="en-US" sz="800" dirty="0"/>
                        <a:t> (e.g., </a:t>
                      </a:r>
                      <a:r>
                        <a:rPr lang="en-US" sz="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/upload</a:t>
                      </a:r>
                      <a:r>
                        <a:rPr lang="en-US" sz="800" dirty="0"/>
                        <a:t>, </a:t>
                      </a:r>
                      <a:r>
                        <a:rPr lang="en-US" sz="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/edit</a:t>
                      </a:r>
                      <a:r>
                        <a:rPr lang="en-US" sz="800" dirty="0"/>
                        <a:t>).</a:t>
                      </a:r>
                    </a:p>
                    <a:p>
                      <a:pPr algn="ctr"/>
                      <a:r>
                        <a:rPr lang="en-US" sz="800" dirty="0"/>
                        <a:t>• Managing the database connection for session storage.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FA8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39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dirty="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Manas Bhasker</a:t>
                      </a:r>
                      <a:endParaRPr sz="800" dirty="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• Implementing the </a:t>
                      </a:r>
                      <a:r>
                        <a:rPr lang="en-US" sz="800" b="1" dirty="0"/>
                        <a:t>Burnout Algorithm</a:t>
                      </a:r>
                      <a:r>
                        <a:rPr lang="en-US" sz="800" dirty="0"/>
                        <a:t> logic (</a:t>
                      </a:r>
                      <a:r>
                        <a:rPr lang="en-US" sz="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(Study/Sleep)*Stress</a:t>
                      </a:r>
                      <a:r>
                        <a:rPr lang="en-US" sz="800" dirty="0"/>
                        <a:t>).</a:t>
                      </a:r>
                    </a:p>
                    <a:p>
                      <a:pPr algn="ctr"/>
                      <a:r>
                        <a:rPr lang="en-US" sz="800" dirty="0"/>
                        <a:t>• Handling </a:t>
                      </a:r>
                      <a:r>
                        <a:rPr lang="en-US" sz="800" b="1" dirty="0"/>
                        <a:t>Data Cleaning</a:t>
                      </a:r>
                      <a:r>
                        <a:rPr lang="en-US" sz="800" dirty="0"/>
                        <a:t> (removing outliers/nulls).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FC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39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dirty="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Trijal Garg</a:t>
                      </a:r>
                      <a:endParaRPr sz="800" dirty="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• Integrating </a:t>
                      </a:r>
                      <a:r>
                        <a:rPr lang="en-US" sz="800" b="1" dirty="0"/>
                        <a:t>NLTK/VADER</a:t>
                      </a:r>
                      <a:r>
                        <a:rPr lang="en-US" sz="800" dirty="0"/>
                        <a:t> to score text feedback.</a:t>
                      </a:r>
                    </a:p>
                    <a:p>
                      <a:pPr algn="ctr"/>
                      <a:r>
                        <a:rPr lang="en-US" sz="800" dirty="0"/>
                        <a:t>• creating logic to compare "Mood Scores" vs. "Burnout Scores".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FA8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39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dirty="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Rishita</a:t>
                      </a:r>
                      <a:endParaRPr sz="800" dirty="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800" dirty="0"/>
                        <a:t>• Designing </a:t>
                      </a:r>
                      <a:r>
                        <a:rPr lang="en-IN" sz="800" b="1" dirty="0"/>
                        <a:t>HTML5/CSS3</a:t>
                      </a:r>
                      <a:r>
                        <a:rPr lang="en-IN" sz="800" dirty="0"/>
                        <a:t> templates.</a:t>
                      </a: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dirty="0"/>
                        <a:t>• Creating the </a:t>
                      </a:r>
                      <a:r>
                        <a:rPr lang="en-US" sz="800" b="1" dirty="0"/>
                        <a:t>Upload Portal</a:t>
                      </a:r>
                      <a:r>
                        <a:rPr lang="en-US" sz="800" dirty="0"/>
                        <a:t> and </a:t>
                      </a:r>
                      <a:r>
                        <a:rPr lang="en-US" sz="800" b="1" dirty="0"/>
                        <a:t>Editing Table</a:t>
                      </a:r>
                      <a:r>
                        <a:rPr lang="en-US" sz="800" dirty="0"/>
                        <a:t> interface.</a:t>
                      </a:r>
                      <a:endParaRPr sz="800" dirty="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FC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39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dirty="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Krishyangi Dixit</a:t>
                      </a:r>
                      <a:endParaRPr sz="800" dirty="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800" dirty="0"/>
                        <a:t>• </a:t>
                      </a:r>
                      <a:r>
                        <a:rPr lang="en-US" sz="800" b="1" dirty="0"/>
                        <a:t>Debugging</a:t>
                      </a:r>
                      <a:endParaRPr lang="en-US" sz="800" dirty="0"/>
                    </a:p>
                    <a:p>
                      <a:pPr algn="ctr"/>
                      <a:r>
                        <a:rPr lang="en-US" sz="800" dirty="0"/>
                        <a:t>•</a:t>
                      </a:r>
                      <a:r>
                        <a:rPr lang="en-US" sz="800" b="1" dirty="0"/>
                        <a:t>System Testing:</a:t>
                      </a:r>
                      <a:r>
                        <a:rPr lang="en-US" sz="800" dirty="0"/>
                        <a:t> Validating CRUD operations and error handling. </a:t>
                      </a:r>
                    </a:p>
                    <a:p>
                      <a:pPr algn="ctr"/>
                      <a:r>
                        <a:rPr lang="en-US" sz="800" dirty="0"/>
                        <a:t>• </a:t>
                      </a:r>
                      <a:r>
                        <a:rPr lang="en-US" sz="800" b="1" dirty="0"/>
                        <a:t>Documentation:</a:t>
                      </a:r>
                      <a:r>
                        <a:rPr lang="en-US" sz="800" dirty="0"/>
                        <a:t> Writing the Synopsis, Final Report, and ReadMe.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FA8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39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dirty="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Kumari Pratibha</a:t>
                      </a:r>
                      <a:endParaRPr sz="800" dirty="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• Designing the </a:t>
                      </a:r>
                      <a:r>
                        <a:rPr lang="en-US" sz="800" b="1" dirty="0"/>
                        <a:t>Analytical Dashboard</a:t>
                      </a:r>
                      <a:r>
                        <a:rPr lang="en-US" sz="800" dirty="0"/>
                        <a:t>.</a:t>
                      </a:r>
                    </a:p>
                    <a:p>
                      <a:pPr algn="ctr"/>
                      <a:r>
                        <a:rPr lang="en-US" sz="800" dirty="0"/>
                        <a:t>• Integrating </a:t>
                      </a:r>
                      <a:r>
                        <a:rPr lang="en-US" sz="800" b="1" dirty="0"/>
                        <a:t>Matplotlib/Chart.js</a:t>
                      </a:r>
                      <a:r>
                        <a:rPr lang="en-US" sz="800" dirty="0"/>
                        <a:t> to generate Heatmaps &amp; Pie Charts.</a:t>
                      </a:r>
                    </a:p>
                    <a:p>
                      <a:pPr algn="ctr"/>
                      <a:r>
                        <a:rPr lang="en-US" sz="800" dirty="0"/>
                        <a:t>• Ensuring charts update dynamically when data is edited.</a:t>
                      </a: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FC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50" name="Google Shape;150;p26">
            <a:extLst>
              <a:ext uri="{FF2B5EF4-FFF2-40B4-BE49-F238E27FC236}">
                <a16:creationId xmlns:a16="http://schemas.microsoft.com/office/drawing/2014/main" id="{A0084991-9354-EF21-BCDD-DC1016AC31DC}"/>
              </a:ext>
            </a:extLst>
          </p:cNvPr>
          <p:cNvSpPr txBox="1"/>
          <p:nvPr/>
        </p:nvSpPr>
        <p:spPr>
          <a:xfrm>
            <a:off x="125121" y="4296377"/>
            <a:ext cx="2863562" cy="7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Faculty Mentor:</a:t>
            </a:r>
            <a:endParaRPr sz="1600" b="1" dirty="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Dr. Shahid Ahmad Wani </a:t>
            </a:r>
            <a:endParaRPr dirty="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</p:spTree>
    <p:extLst>
      <p:ext uri="{BB962C8B-B14F-4D97-AF65-F5344CB8AC3E}">
        <p14:creationId xmlns:p14="http://schemas.microsoft.com/office/powerpoint/2010/main" val="11940834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7"/>
          <p:cNvSpPr/>
          <p:nvPr/>
        </p:nvSpPr>
        <p:spPr>
          <a:xfrm>
            <a:off x="-275" y="162000"/>
            <a:ext cx="9153000" cy="588000"/>
          </a:xfrm>
          <a:prstGeom prst="rect">
            <a:avLst/>
          </a:prstGeom>
          <a:solidFill>
            <a:srgbClr val="D9E5F8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27"/>
          <p:cNvSpPr/>
          <p:nvPr/>
        </p:nvSpPr>
        <p:spPr>
          <a:xfrm>
            <a:off x="4160520" y="0"/>
            <a:ext cx="4995000" cy="162000"/>
          </a:xfrm>
          <a:prstGeom prst="rect">
            <a:avLst/>
          </a:prstGeom>
          <a:solidFill>
            <a:srgbClr val="341BF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27"/>
          <p:cNvSpPr/>
          <p:nvPr/>
        </p:nvSpPr>
        <p:spPr>
          <a:xfrm>
            <a:off x="2858" y="0"/>
            <a:ext cx="4158000" cy="162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27"/>
          <p:cNvSpPr/>
          <p:nvPr/>
        </p:nvSpPr>
        <p:spPr>
          <a:xfrm>
            <a:off x="4927108" y="4972928"/>
            <a:ext cx="4239000" cy="162000"/>
          </a:xfrm>
          <a:prstGeom prst="rect">
            <a:avLst/>
          </a:prstGeom>
          <a:solidFill>
            <a:srgbClr val="341BF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27"/>
          <p:cNvSpPr/>
          <p:nvPr/>
        </p:nvSpPr>
        <p:spPr>
          <a:xfrm>
            <a:off x="-8853" y="4972928"/>
            <a:ext cx="4941000" cy="162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27"/>
          <p:cNvSpPr txBox="1"/>
          <p:nvPr/>
        </p:nvSpPr>
        <p:spPr>
          <a:xfrm>
            <a:off x="-8850" y="164450"/>
            <a:ext cx="5580900" cy="5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Overview</a:t>
            </a:r>
            <a:endParaRPr sz="30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1" name="Google Shape;161;p27"/>
          <p:cNvSpPr txBox="1"/>
          <p:nvPr/>
        </p:nvSpPr>
        <p:spPr>
          <a:xfrm>
            <a:off x="8803958" y="4921958"/>
            <a:ext cx="3399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2</a:t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B6053412-3203-CE4B-3D72-226FB47BF6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140" y="946834"/>
            <a:ext cx="8785718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What is Mind Space?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full-stack web application designed to analyze student burnout using a multidimensional approach.</a:t>
            </a: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The Core Problem:</a:t>
            </a:r>
            <a:endParaRPr lang="en-US" alt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Traditional monitoring is episodic (once a semester) and reactive.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Existing data is often "noisy" and lacks emotional context.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Solution: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Combines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Quantitative Metrics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(Sleep, Study, Stress) with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Qualitative Analysis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(Sentiment in feedback).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 a dynamic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"Editing Section"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clean data in real-time.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endParaRPr lang="en-US" alt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8"/>
          <p:cNvSpPr/>
          <p:nvPr/>
        </p:nvSpPr>
        <p:spPr>
          <a:xfrm>
            <a:off x="-275" y="162000"/>
            <a:ext cx="9153000" cy="588000"/>
          </a:xfrm>
          <a:prstGeom prst="rect">
            <a:avLst/>
          </a:prstGeom>
          <a:solidFill>
            <a:srgbClr val="D9E5F8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28"/>
          <p:cNvSpPr/>
          <p:nvPr/>
        </p:nvSpPr>
        <p:spPr>
          <a:xfrm>
            <a:off x="4160520" y="0"/>
            <a:ext cx="4995000" cy="162000"/>
          </a:xfrm>
          <a:prstGeom prst="rect">
            <a:avLst/>
          </a:prstGeom>
          <a:solidFill>
            <a:srgbClr val="341BF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28"/>
          <p:cNvSpPr/>
          <p:nvPr/>
        </p:nvSpPr>
        <p:spPr>
          <a:xfrm>
            <a:off x="2858" y="0"/>
            <a:ext cx="4158000" cy="162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28"/>
          <p:cNvSpPr/>
          <p:nvPr/>
        </p:nvSpPr>
        <p:spPr>
          <a:xfrm>
            <a:off x="4927108" y="4972928"/>
            <a:ext cx="4239000" cy="162000"/>
          </a:xfrm>
          <a:prstGeom prst="rect">
            <a:avLst/>
          </a:prstGeom>
          <a:solidFill>
            <a:srgbClr val="341BF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28"/>
          <p:cNvSpPr/>
          <p:nvPr/>
        </p:nvSpPr>
        <p:spPr>
          <a:xfrm>
            <a:off x="-8853" y="4972928"/>
            <a:ext cx="4941000" cy="162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28"/>
          <p:cNvSpPr txBox="1"/>
          <p:nvPr/>
        </p:nvSpPr>
        <p:spPr>
          <a:xfrm>
            <a:off x="-8850" y="164450"/>
            <a:ext cx="5580900" cy="5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Specific Objectives</a:t>
            </a:r>
            <a:endParaRPr sz="30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3" name="Google Shape;173;p28"/>
          <p:cNvSpPr txBox="1"/>
          <p:nvPr/>
        </p:nvSpPr>
        <p:spPr>
          <a:xfrm>
            <a:off x="8803958" y="4921958"/>
            <a:ext cx="3399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3</a:t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1C574F0-0CBF-67D5-7C96-9B523F2F80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8606" y="1542995"/>
            <a:ext cx="8586788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Data Management: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Develop a Flask portal for ingesting CSV datasets and performing </a:t>
            </a: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CRUD operations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(Create, Read, Update, Delete).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Burnout Quantification: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Compute a </a:t>
            </a: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"Burnout Index"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using a weighted algorithm based on lifestyle factors.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Sentiment Analysis: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Utilize </a:t>
            </a: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NLTK (VADER)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to detect latent distress in textual student feedback.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Risk Visualization: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Generate real-time heatmaps and trend lines to classify students into </a:t>
            </a: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Low, Medium, and High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risk categories.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9"/>
          <p:cNvSpPr/>
          <p:nvPr/>
        </p:nvSpPr>
        <p:spPr>
          <a:xfrm>
            <a:off x="-275" y="162000"/>
            <a:ext cx="9153000" cy="588000"/>
          </a:xfrm>
          <a:prstGeom prst="rect">
            <a:avLst/>
          </a:prstGeom>
          <a:solidFill>
            <a:srgbClr val="D9E5F8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29"/>
          <p:cNvSpPr/>
          <p:nvPr/>
        </p:nvSpPr>
        <p:spPr>
          <a:xfrm>
            <a:off x="4160520" y="0"/>
            <a:ext cx="4995000" cy="162000"/>
          </a:xfrm>
          <a:prstGeom prst="rect">
            <a:avLst/>
          </a:prstGeom>
          <a:solidFill>
            <a:srgbClr val="341BF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29"/>
          <p:cNvSpPr/>
          <p:nvPr/>
        </p:nvSpPr>
        <p:spPr>
          <a:xfrm>
            <a:off x="2858" y="0"/>
            <a:ext cx="4158000" cy="162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29"/>
          <p:cNvSpPr/>
          <p:nvPr/>
        </p:nvSpPr>
        <p:spPr>
          <a:xfrm>
            <a:off x="4927108" y="4972928"/>
            <a:ext cx="4239000" cy="162000"/>
          </a:xfrm>
          <a:prstGeom prst="rect">
            <a:avLst/>
          </a:prstGeom>
          <a:solidFill>
            <a:srgbClr val="341BF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29"/>
          <p:cNvSpPr/>
          <p:nvPr/>
        </p:nvSpPr>
        <p:spPr>
          <a:xfrm>
            <a:off x="-8853" y="4972928"/>
            <a:ext cx="4941000" cy="162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29"/>
          <p:cNvSpPr txBox="1"/>
          <p:nvPr/>
        </p:nvSpPr>
        <p:spPr>
          <a:xfrm>
            <a:off x="-8850" y="164450"/>
            <a:ext cx="5580900" cy="5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Features</a:t>
            </a:r>
            <a:endParaRPr sz="30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5" name="Google Shape;185;p29"/>
          <p:cNvSpPr txBox="1"/>
          <p:nvPr/>
        </p:nvSpPr>
        <p:spPr>
          <a:xfrm>
            <a:off x="8803958" y="4921958"/>
            <a:ext cx="3399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4</a:t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7B700EE-7659-B587-3ECC-0EF46FFEF9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2928" y="1194168"/>
            <a:ext cx="8146732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Secure Data Portal: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Easy ingestion of large-scale academic datasets (CSV/Excel).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Interactive Editing Suite: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Allows researchers to fix outliers (e.g., invalid sleep hours) instantly within the browser.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Automated Scoring Engine: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Automatically calculates risk scores as soon as data is uploaded or modified.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Sentiment Intelligence: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Flags students who report "okay" grades but use distress-signal words in feedback.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Dynamic Dashboard: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Visualizations update in real-time as the underlying data changes.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>
          <a:extLst>
            <a:ext uri="{FF2B5EF4-FFF2-40B4-BE49-F238E27FC236}">
              <a16:creationId xmlns:a16="http://schemas.microsoft.com/office/drawing/2014/main" id="{2F541FE4-7766-8FD5-7D30-93DC21F9E2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3">
            <a:extLst>
              <a:ext uri="{FF2B5EF4-FFF2-40B4-BE49-F238E27FC236}">
                <a16:creationId xmlns:a16="http://schemas.microsoft.com/office/drawing/2014/main" id="{E158B95B-8A94-03F3-7A6C-D27E031FA4C4}"/>
              </a:ext>
            </a:extLst>
          </p:cNvPr>
          <p:cNvSpPr/>
          <p:nvPr/>
        </p:nvSpPr>
        <p:spPr>
          <a:xfrm>
            <a:off x="-275" y="162000"/>
            <a:ext cx="9153000" cy="588000"/>
          </a:xfrm>
          <a:prstGeom prst="rect">
            <a:avLst/>
          </a:prstGeom>
          <a:solidFill>
            <a:srgbClr val="D9E5F8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33">
            <a:extLst>
              <a:ext uri="{FF2B5EF4-FFF2-40B4-BE49-F238E27FC236}">
                <a16:creationId xmlns:a16="http://schemas.microsoft.com/office/drawing/2014/main" id="{A00DADAB-553E-F686-0482-0D807BB77331}"/>
              </a:ext>
            </a:extLst>
          </p:cNvPr>
          <p:cNvSpPr/>
          <p:nvPr/>
        </p:nvSpPr>
        <p:spPr>
          <a:xfrm>
            <a:off x="4160520" y="0"/>
            <a:ext cx="4995000" cy="162000"/>
          </a:xfrm>
          <a:prstGeom prst="rect">
            <a:avLst/>
          </a:prstGeom>
          <a:solidFill>
            <a:srgbClr val="341BF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33">
            <a:extLst>
              <a:ext uri="{FF2B5EF4-FFF2-40B4-BE49-F238E27FC236}">
                <a16:creationId xmlns:a16="http://schemas.microsoft.com/office/drawing/2014/main" id="{2F19AB60-A38C-D2CD-4703-04EAE6F0D13C}"/>
              </a:ext>
            </a:extLst>
          </p:cNvPr>
          <p:cNvSpPr/>
          <p:nvPr/>
        </p:nvSpPr>
        <p:spPr>
          <a:xfrm>
            <a:off x="2858" y="0"/>
            <a:ext cx="4158000" cy="162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33">
            <a:extLst>
              <a:ext uri="{FF2B5EF4-FFF2-40B4-BE49-F238E27FC236}">
                <a16:creationId xmlns:a16="http://schemas.microsoft.com/office/drawing/2014/main" id="{EE862987-F136-3257-D7D3-028F4C0E8EC3}"/>
              </a:ext>
            </a:extLst>
          </p:cNvPr>
          <p:cNvSpPr/>
          <p:nvPr/>
        </p:nvSpPr>
        <p:spPr>
          <a:xfrm>
            <a:off x="4927108" y="4972928"/>
            <a:ext cx="4239000" cy="162000"/>
          </a:xfrm>
          <a:prstGeom prst="rect">
            <a:avLst/>
          </a:prstGeom>
          <a:solidFill>
            <a:srgbClr val="341BF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33">
            <a:extLst>
              <a:ext uri="{FF2B5EF4-FFF2-40B4-BE49-F238E27FC236}">
                <a16:creationId xmlns:a16="http://schemas.microsoft.com/office/drawing/2014/main" id="{577D3898-8E5C-04F1-3024-3514096AA6A0}"/>
              </a:ext>
            </a:extLst>
          </p:cNvPr>
          <p:cNvSpPr/>
          <p:nvPr/>
        </p:nvSpPr>
        <p:spPr>
          <a:xfrm>
            <a:off x="-8853" y="4972928"/>
            <a:ext cx="4941000" cy="162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33">
            <a:extLst>
              <a:ext uri="{FF2B5EF4-FFF2-40B4-BE49-F238E27FC236}">
                <a16:creationId xmlns:a16="http://schemas.microsoft.com/office/drawing/2014/main" id="{63A176C1-1047-D27E-7971-6B977ABE4F8B}"/>
              </a:ext>
            </a:extLst>
          </p:cNvPr>
          <p:cNvSpPr txBox="1"/>
          <p:nvPr/>
        </p:nvSpPr>
        <p:spPr>
          <a:xfrm>
            <a:off x="-8850" y="164450"/>
            <a:ext cx="9144000" cy="5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Summary</a:t>
            </a:r>
            <a:endParaRPr sz="30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4" name="Google Shape;234;p33">
            <a:extLst>
              <a:ext uri="{FF2B5EF4-FFF2-40B4-BE49-F238E27FC236}">
                <a16:creationId xmlns:a16="http://schemas.microsoft.com/office/drawing/2014/main" id="{EBCD2F16-1B5A-B9F4-27C7-30F31E764115}"/>
              </a:ext>
            </a:extLst>
          </p:cNvPr>
          <p:cNvSpPr txBox="1"/>
          <p:nvPr/>
        </p:nvSpPr>
        <p:spPr>
          <a:xfrm>
            <a:off x="8803958" y="4921958"/>
            <a:ext cx="3399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8</a:t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FAE2CEC0-552A-A140-6D69-186F31A112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0482" y="1176388"/>
            <a:ext cx="7432474" cy="33701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MindSpace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is a full-stack web application developed by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Projexa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Team (26E1055) at K.R. Mangalam University to address the critical issue of student burnout. Unlike traditional reactive monitoring systems,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MindSpace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employs a multidimensional approach by merging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quantitative lifestyle metrics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with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qualitative sentiment analysis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The platform allows for the ingestion of academic datasets (CSV/Excel) and features a specialized "Editing Suite" to handle data cleaning and outlier removal in real-time. By utilizing a custom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Burnout Algorithm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and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NLTK (VADER) engine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, the system classifies students into Low, Medium, or High-risk categories, providing university counselors and administrators with a real-time, holistic view of student well-being.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64140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>
          <a:extLst>
            <a:ext uri="{FF2B5EF4-FFF2-40B4-BE49-F238E27FC236}">
              <a16:creationId xmlns:a16="http://schemas.microsoft.com/office/drawing/2014/main" id="{C29B9548-EF05-256D-9C1D-6ADFCF8CC0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3">
            <a:extLst>
              <a:ext uri="{FF2B5EF4-FFF2-40B4-BE49-F238E27FC236}">
                <a16:creationId xmlns:a16="http://schemas.microsoft.com/office/drawing/2014/main" id="{CAAFA9D8-2A35-BB1C-17A9-6DD0D15736B6}"/>
              </a:ext>
            </a:extLst>
          </p:cNvPr>
          <p:cNvSpPr/>
          <p:nvPr/>
        </p:nvSpPr>
        <p:spPr>
          <a:xfrm>
            <a:off x="-275" y="162000"/>
            <a:ext cx="9153000" cy="588000"/>
          </a:xfrm>
          <a:prstGeom prst="rect">
            <a:avLst/>
          </a:prstGeom>
          <a:solidFill>
            <a:srgbClr val="D9E5F8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33">
            <a:extLst>
              <a:ext uri="{FF2B5EF4-FFF2-40B4-BE49-F238E27FC236}">
                <a16:creationId xmlns:a16="http://schemas.microsoft.com/office/drawing/2014/main" id="{0334093D-1D2B-8AC7-05FC-25995CB65D53}"/>
              </a:ext>
            </a:extLst>
          </p:cNvPr>
          <p:cNvSpPr/>
          <p:nvPr/>
        </p:nvSpPr>
        <p:spPr>
          <a:xfrm>
            <a:off x="4160520" y="0"/>
            <a:ext cx="4995000" cy="162000"/>
          </a:xfrm>
          <a:prstGeom prst="rect">
            <a:avLst/>
          </a:prstGeom>
          <a:solidFill>
            <a:srgbClr val="341BF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33">
            <a:extLst>
              <a:ext uri="{FF2B5EF4-FFF2-40B4-BE49-F238E27FC236}">
                <a16:creationId xmlns:a16="http://schemas.microsoft.com/office/drawing/2014/main" id="{31C85157-2630-EAAC-58EF-FDF25AC86AFB}"/>
              </a:ext>
            </a:extLst>
          </p:cNvPr>
          <p:cNvSpPr/>
          <p:nvPr/>
        </p:nvSpPr>
        <p:spPr>
          <a:xfrm>
            <a:off x="2858" y="0"/>
            <a:ext cx="4158000" cy="162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33">
            <a:extLst>
              <a:ext uri="{FF2B5EF4-FFF2-40B4-BE49-F238E27FC236}">
                <a16:creationId xmlns:a16="http://schemas.microsoft.com/office/drawing/2014/main" id="{E472EF2B-A13A-DEF4-16F8-299CDF49D902}"/>
              </a:ext>
            </a:extLst>
          </p:cNvPr>
          <p:cNvSpPr/>
          <p:nvPr/>
        </p:nvSpPr>
        <p:spPr>
          <a:xfrm>
            <a:off x="4927108" y="4972928"/>
            <a:ext cx="4239000" cy="162000"/>
          </a:xfrm>
          <a:prstGeom prst="rect">
            <a:avLst/>
          </a:prstGeom>
          <a:solidFill>
            <a:srgbClr val="341BF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33">
            <a:extLst>
              <a:ext uri="{FF2B5EF4-FFF2-40B4-BE49-F238E27FC236}">
                <a16:creationId xmlns:a16="http://schemas.microsoft.com/office/drawing/2014/main" id="{3F86299E-DDA5-3F80-3BD0-55036F591517}"/>
              </a:ext>
            </a:extLst>
          </p:cNvPr>
          <p:cNvSpPr/>
          <p:nvPr/>
        </p:nvSpPr>
        <p:spPr>
          <a:xfrm>
            <a:off x="-8853" y="4972928"/>
            <a:ext cx="4941000" cy="162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33">
            <a:extLst>
              <a:ext uri="{FF2B5EF4-FFF2-40B4-BE49-F238E27FC236}">
                <a16:creationId xmlns:a16="http://schemas.microsoft.com/office/drawing/2014/main" id="{70A3F9E6-4F89-10DC-BD6B-D9112D40959A}"/>
              </a:ext>
            </a:extLst>
          </p:cNvPr>
          <p:cNvSpPr txBox="1"/>
          <p:nvPr/>
        </p:nvSpPr>
        <p:spPr>
          <a:xfrm>
            <a:off x="-8850" y="164450"/>
            <a:ext cx="9144000" cy="5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Detailes Progress: Development Phase</a:t>
            </a:r>
            <a:endParaRPr sz="30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4" name="Google Shape;234;p33">
            <a:extLst>
              <a:ext uri="{FF2B5EF4-FFF2-40B4-BE49-F238E27FC236}">
                <a16:creationId xmlns:a16="http://schemas.microsoft.com/office/drawing/2014/main" id="{2BC3FAED-510B-6B09-BD7A-343BCDE31E71}"/>
              </a:ext>
            </a:extLst>
          </p:cNvPr>
          <p:cNvSpPr txBox="1"/>
          <p:nvPr/>
        </p:nvSpPr>
        <p:spPr>
          <a:xfrm>
            <a:off x="8803958" y="4921958"/>
            <a:ext cx="3399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8</a:t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A4798B7-7CCA-43C1-337B-DAEE4DFC47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6484517"/>
              </p:ext>
            </p:extLst>
          </p:nvPr>
        </p:nvGraphicFramePr>
        <p:xfrm>
          <a:off x="193289" y="802887"/>
          <a:ext cx="8237034" cy="4208084"/>
        </p:xfrm>
        <a:graphic>
          <a:graphicData uri="http://schemas.openxmlformats.org/drawingml/2006/table">
            <a:tbl>
              <a:tblPr/>
              <a:tblGrid>
                <a:gridCol w="2745678">
                  <a:extLst>
                    <a:ext uri="{9D8B030D-6E8A-4147-A177-3AD203B41FA5}">
                      <a16:colId xmlns:a16="http://schemas.microsoft.com/office/drawing/2014/main" val="2469177783"/>
                    </a:ext>
                  </a:extLst>
                </a:gridCol>
                <a:gridCol w="2745678">
                  <a:extLst>
                    <a:ext uri="{9D8B030D-6E8A-4147-A177-3AD203B41FA5}">
                      <a16:colId xmlns:a16="http://schemas.microsoft.com/office/drawing/2014/main" val="804372709"/>
                    </a:ext>
                  </a:extLst>
                </a:gridCol>
                <a:gridCol w="2745678">
                  <a:extLst>
                    <a:ext uri="{9D8B030D-6E8A-4147-A177-3AD203B41FA5}">
                      <a16:colId xmlns:a16="http://schemas.microsoft.com/office/drawing/2014/main" val="1091044079"/>
                    </a:ext>
                  </a:extLst>
                </a:gridCol>
              </a:tblGrid>
              <a:tr h="1884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b="1"/>
                        <a:t>Domain</a:t>
                      </a:r>
                      <a:endParaRPr lang="en-IN" sz="1050"/>
                    </a:p>
                  </a:txBody>
                  <a:tcPr marL="37642" marR="37642" marT="18821" marB="188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b="1"/>
                        <a:t>Component</a:t>
                      </a:r>
                      <a:endParaRPr lang="en-IN" sz="1050"/>
                    </a:p>
                  </a:txBody>
                  <a:tcPr marL="37642" marR="37642" marT="18821" marB="188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b="1"/>
                        <a:t>Progress Summary</a:t>
                      </a:r>
                      <a:endParaRPr lang="en-IN" sz="1050"/>
                    </a:p>
                  </a:txBody>
                  <a:tcPr marL="37642" marR="37642" marT="18821" marB="188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7820665"/>
                  </a:ext>
                </a:extLst>
              </a:tr>
              <a:tr h="3728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b="1"/>
                        <a:t>Backend &amp; Infrastructure</a:t>
                      </a:r>
                      <a:endParaRPr lang="en-IN" sz="1050"/>
                    </a:p>
                  </a:txBody>
                  <a:tcPr marL="37642" marR="37642" marT="18821" marB="188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Environment Setup</a:t>
                      </a:r>
                    </a:p>
                  </a:txBody>
                  <a:tcPr marL="37642" marR="37642" marT="18821" marB="188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Flask environment configured with structured directories for efficient routing</a:t>
                      </a:r>
                    </a:p>
                  </a:txBody>
                  <a:tcPr marL="37642" marR="37642" marT="18821" marB="188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7635076"/>
                  </a:ext>
                </a:extLst>
              </a:tr>
              <a:tr h="372866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50" dirty="0"/>
                    </a:p>
                  </a:txBody>
                  <a:tcPr marL="37642" marR="37642" marT="18821" marB="188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Routing &amp; APIs</a:t>
                      </a:r>
                    </a:p>
                  </a:txBody>
                  <a:tcPr marL="37642" marR="37642" marT="18821" marB="188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RESTful APIs implemented (</a:t>
                      </a:r>
                      <a:r>
                        <a:rPr lang="en-US" sz="1050">
                          <a:latin typeface="Courier New" panose="02070309020205020404" pitchFamily="49" charset="0"/>
                        </a:rPr>
                        <a:t>/upload</a:t>
                      </a:r>
                      <a:r>
                        <a:rPr lang="en-US" sz="1050"/>
                        <a:t>, </a:t>
                      </a:r>
                      <a:r>
                        <a:rPr lang="en-US" sz="1050">
                          <a:latin typeface="Courier New" panose="02070309020205020404" pitchFamily="49" charset="0"/>
                        </a:rPr>
                        <a:t>/edit</a:t>
                      </a:r>
                      <a:r>
                        <a:rPr lang="en-US" sz="1050"/>
                        <a:t>) for data handling</a:t>
                      </a:r>
                    </a:p>
                  </a:txBody>
                  <a:tcPr marL="37642" marR="37642" marT="18821" marB="188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683705"/>
                  </a:ext>
                </a:extLst>
              </a:tr>
              <a:tr h="34092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50"/>
                    </a:p>
                  </a:txBody>
                  <a:tcPr marL="37642" marR="37642" marT="18821" marB="188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dirty="0"/>
                        <a:t>Session Management</a:t>
                      </a:r>
                    </a:p>
                  </a:txBody>
                  <a:tcPr marL="37642" marR="37642" marT="18821" marB="188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SQLite integrated for persistent storage &amp; student record handling</a:t>
                      </a:r>
                    </a:p>
                  </a:txBody>
                  <a:tcPr marL="37642" marR="37642" marT="18821" marB="188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0696328"/>
                  </a:ext>
                </a:extLst>
              </a:tr>
              <a:tr h="3409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b="1"/>
                        <a:t>Core Analytics Engine</a:t>
                      </a:r>
                      <a:endParaRPr lang="en-IN" sz="1050"/>
                    </a:p>
                  </a:txBody>
                  <a:tcPr marL="37642" marR="37642" marT="18821" marB="188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Burnout Quantification</a:t>
                      </a:r>
                    </a:p>
                  </a:txBody>
                  <a:tcPr marL="37642" marR="37642" marT="18821" marB="188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Burnout Score formula implemented for risk evaluation</a:t>
                      </a:r>
                    </a:p>
                  </a:txBody>
                  <a:tcPr marL="37642" marR="37642" marT="18821" marB="188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4287607"/>
                  </a:ext>
                </a:extLst>
              </a:tr>
              <a:tr h="372866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50"/>
                    </a:p>
                  </a:txBody>
                  <a:tcPr marL="37642" marR="37642" marT="18821" marB="188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Data Pre-processing</a:t>
                      </a:r>
                    </a:p>
                  </a:txBody>
                  <a:tcPr marL="37642" marR="37642" marT="18821" marB="188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Pandas/NumPy pipeline: missing values handled, stress levels normalized (1–10)</a:t>
                      </a:r>
                    </a:p>
                  </a:txBody>
                  <a:tcPr marL="37642" marR="37642" marT="18821" marB="188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6051049"/>
                  </a:ext>
                </a:extLst>
              </a:tr>
              <a:tr h="3409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b="1"/>
                        <a:t>NLP Module</a:t>
                      </a:r>
                      <a:endParaRPr lang="en-IN" sz="1050"/>
                    </a:p>
                  </a:txBody>
                  <a:tcPr marL="37642" marR="37642" marT="18821" marB="188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Sentiment Analysis</a:t>
                      </a:r>
                    </a:p>
                  </a:txBody>
                  <a:tcPr marL="37642" marR="37642" marT="18821" marB="188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Integrated NLTK VADER for processing student feedback</a:t>
                      </a:r>
                    </a:p>
                  </a:txBody>
                  <a:tcPr marL="37642" marR="37642" marT="18821" marB="188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5110355"/>
                  </a:ext>
                </a:extLst>
              </a:tr>
              <a:tr h="372866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50"/>
                    </a:p>
                  </a:txBody>
                  <a:tcPr marL="37642" marR="37642" marT="18821" marB="188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Risk Correlation</a:t>
                      </a:r>
                    </a:p>
                  </a:txBody>
                  <a:tcPr marL="37642" marR="37642" marT="18821" marB="188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Linked Mood Scores (-1 to +1) with Burnout Scores to detect hidden risk cases</a:t>
                      </a:r>
                    </a:p>
                  </a:txBody>
                  <a:tcPr marL="37642" marR="37642" marT="18821" marB="188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9033381"/>
                  </a:ext>
                </a:extLst>
              </a:tr>
              <a:tr h="3409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b="1"/>
                        <a:t>Frontend &amp; Visualization</a:t>
                      </a:r>
                      <a:endParaRPr lang="en-IN" sz="1050"/>
                    </a:p>
                  </a:txBody>
                  <a:tcPr marL="37642" marR="37642" marT="18821" marB="188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dirty="0"/>
                        <a:t>UI Design</a:t>
                      </a:r>
                    </a:p>
                  </a:txBody>
                  <a:tcPr marL="37642" marR="37642" marT="18821" marB="188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Responsive HTML/CSS interface with upload &amp; live editing features</a:t>
                      </a:r>
                    </a:p>
                  </a:txBody>
                  <a:tcPr marL="37642" marR="37642" marT="18821" marB="188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5908006"/>
                  </a:ext>
                </a:extLst>
              </a:tr>
              <a:tr h="372866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50"/>
                    </a:p>
                  </a:txBody>
                  <a:tcPr marL="37642" marR="37642" marT="18821" marB="188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Dashboard</a:t>
                      </a:r>
                    </a:p>
                  </a:txBody>
                  <a:tcPr marL="37642" marR="37642" marT="18821" marB="188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Real-time charts (heatmaps, histograms, pie charts) using Matplotlib/Chart.js</a:t>
                      </a:r>
                    </a:p>
                  </a:txBody>
                  <a:tcPr marL="37642" marR="37642" marT="18821" marB="188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5612507"/>
                  </a:ext>
                </a:extLst>
              </a:tr>
              <a:tr h="3409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b="1"/>
                        <a:t>QA &amp; Documentation</a:t>
                      </a:r>
                      <a:endParaRPr lang="en-IN" sz="1050"/>
                    </a:p>
                  </a:txBody>
                  <a:tcPr marL="37642" marR="37642" marT="18821" marB="188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Testing</a:t>
                      </a:r>
                    </a:p>
                  </a:txBody>
                  <a:tcPr marL="37642" marR="37642" marT="18821" marB="188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Debugged CRUD operations ensuring data integrity</a:t>
                      </a:r>
                    </a:p>
                  </a:txBody>
                  <a:tcPr marL="37642" marR="37642" marT="18821" marB="188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1017222"/>
                  </a:ext>
                </a:extLst>
              </a:tr>
              <a:tr h="34092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50"/>
                    </a:p>
                  </a:txBody>
                  <a:tcPr marL="37642" marR="37642" marT="18821" marB="188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Documentation</a:t>
                      </a:r>
                    </a:p>
                  </a:txBody>
                  <a:tcPr marL="37642" marR="37642" marT="18821" marB="188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/>
                        <a:t>Completed synopsis &amp; initial README with architecture details</a:t>
                      </a:r>
                    </a:p>
                  </a:txBody>
                  <a:tcPr marL="37642" marR="37642" marT="18821" marB="188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3674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88155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3"/>
          <p:cNvSpPr/>
          <p:nvPr/>
        </p:nvSpPr>
        <p:spPr>
          <a:xfrm>
            <a:off x="-275" y="162000"/>
            <a:ext cx="9153000" cy="588000"/>
          </a:xfrm>
          <a:prstGeom prst="rect">
            <a:avLst/>
          </a:prstGeom>
          <a:solidFill>
            <a:srgbClr val="D9E5F8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33"/>
          <p:cNvSpPr/>
          <p:nvPr/>
        </p:nvSpPr>
        <p:spPr>
          <a:xfrm>
            <a:off x="4160520" y="0"/>
            <a:ext cx="4995000" cy="162000"/>
          </a:xfrm>
          <a:prstGeom prst="rect">
            <a:avLst/>
          </a:prstGeom>
          <a:solidFill>
            <a:srgbClr val="341BF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33"/>
          <p:cNvSpPr/>
          <p:nvPr/>
        </p:nvSpPr>
        <p:spPr>
          <a:xfrm>
            <a:off x="2858" y="0"/>
            <a:ext cx="4158000" cy="162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33"/>
          <p:cNvSpPr/>
          <p:nvPr/>
        </p:nvSpPr>
        <p:spPr>
          <a:xfrm>
            <a:off x="4927108" y="4972928"/>
            <a:ext cx="4239000" cy="162000"/>
          </a:xfrm>
          <a:prstGeom prst="rect">
            <a:avLst/>
          </a:prstGeom>
          <a:solidFill>
            <a:srgbClr val="341BF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33"/>
          <p:cNvSpPr/>
          <p:nvPr/>
        </p:nvSpPr>
        <p:spPr>
          <a:xfrm>
            <a:off x="-8853" y="4972928"/>
            <a:ext cx="4941000" cy="162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33"/>
          <p:cNvSpPr txBox="1"/>
          <p:nvPr/>
        </p:nvSpPr>
        <p:spPr>
          <a:xfrm>
            <a:off x="-8850" y="164450"/>
            <a:ext cx="9144000" cy="5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Methodology</a:t>
            </a:r>
            <a:endParaRPr sz="30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4" name="Google Shape;234;p33"/>
          <p:cNvSpPr txBox="1"/>
          <p:nvPr/>
        </p:nvSpPr>
        <p:spPr>
          <a:xfrm>
            <a:off x="8803958" y="4921958"/>
            <a:ext cx="3399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8</a:t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C1937573-DF9F-FF56-D613-AC1B37C981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385" y="1053155"/>
            <a:ext cx="8515350" cy="34624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 Stack:</a:t>
            </a:r>
            <a:endParaRPr lang="en-US" alt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Backend: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Flask (Python) - </a:t>
            </a:r>
            <a:r>
              <a:rPr lang="en-US" altLang="en-US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Chosen for lightweight routing.</a:t>
            </a:r>
            <a:endParaRPr lang="en-US" alt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Analytics: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Pandas &amp; NumPy - </a:t>
            </a:r>
            <a:r>
              <a:rPr lang="en-US" altLang="en-US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Chosen for vectorized data cleaning.</a:t>
            </a:r>
            <a:endParaRPr lang="en-US" alt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NLP: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NLTK - Natural Language Tool Kit (VADER – Valence Aware Dictionary and </a:t>
            </a:r>
            <a:r>
              <a:rPr lang="en-US" alt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sEntiment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Reasoner) - </a:t>
            </a:r>
            <a:r>
              <a:rPr lang="en-US" altLang="en-US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Chosen for efficient, rule-based sentiment scoring.</a:t>
            </a:r>
            <a:endParaRPr lang="en-US" alt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Frontend: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HTML5, CSS3.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Algorithm:</a:t>
            </a:r>
            <a:endParaRPr lang="en-US" alt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Formula: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en-US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Burnout Score = ((Study / Sleep) * Stress) * 10$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Sentiment: Compound Polarity Score (-1 to +1).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en-US" alt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E2A0253-6351-4460-B17F-66890980FA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1318" y="2971801"/>
            <a:ext cx="4622245" cy="6477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1"/>
          <p:cNvSpPr/>
          <p:nvPr/>
        </p:nvSpPr>
        <p:spPr>
          <a:xfrm>
            <a:off x="-275" y="162000"/>
            <a:ext cx="9153000" cy="588000"/>
          </a:xfrm>
          <a:prstGeom prst="rect">
            <a:avLst/>
          </a:prstGeom>
          <a:solidFill>
            <a:srgbClr val="D9E5F8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31"/>
          <p:cNvSpPr/>
          <p:nvPr/>
        </p:nvSpPr>
        <p:spPr>
          <a:xfrm>
            <a:off x="4160520" y="0"/>
            <a:ext cx="4995000" cy="162000"/>
          </a:xfrm>
          <a:prstGeom prst="rect">
            <a:avLst/>
          </a:prstGeom>
          <a:solidFill>
            <a:srgbClr val="341BF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31"/>
          <p:cNvSpPr/>
          <p:nvPr/>
        </p:nvSpPr>
        <p:spPr>
          <a:xfrm>
            <a:off x="2858" y="0"/>
            <a:ext cx="4158000" cy="162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31"/>
          <p:cNvSpPr/>
          <p:nvPr/>
        </p:nvSpPr>
        <p:spPr>
          <a:xfrm>
            <a:off x="4927108" y="4972928"/>
            <a:ext cx="4239000" cy="162000"/>
          </a:xfrm>
          <a:prstGeom prst="rect">
            <a:avLst/>
          </a:prstGeom>
          <a:solidFill>
            <a:srgbClr val="341BF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31"/>
          <p:cNvSpPr/>
          <p:nvPr/>
        </p:nvSpPr>
        <p:spPr>
          <a:xfrm>
            <a:off x="-8853" y="4972928"/>
            <a:ext cx="4941000" cy="162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31"/>
          <p:cNvSpPr txBox="1"/>
          <p:nvPr/>
        </p:nvSpPr>
        <p:spPr>
          <a:xfrm>
            <a:off x="-8850" y="164450"/>
            <a:ext cx="9144000" cy="5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Flow diagram/Architecture</a:t>
            </a:r>
            <a:endParaRPr sz="30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9" name="Google Shape;209;p31"/>
          <p:cNvSpPr txBox="1"/>
          <p:nvPr/>
        </p:nvSpPr>
        <p:spPr>
          <a:xfrm>
            <a:off x="8803958" y="4921958"/>
            <a:ext cx="3399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6</a:t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0B90F7C-80DB-13A7-D8EF-8C0091144EC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" b="69873"/>
          <a:stretch>
            <a:fillRect/>
          </a:stretch>
        </p:blipFill>
        <p:spPr>
          <a:xfrm>
            <a:off x="844294" y="695450"/>
            <a:ext cx="7937414" cy="423843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>
          <a:extLst>
            <a:ext uri="{FF2B5EF4-FFF2-40B4-BE49-F238E27FC236}">
              <a16:creationId xmlns:a16="http://schemas.microsoft.com/office/drawing/2014/main" id="{050A209B-A08E-4A35-E8F5-26CB42D1A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1">
            <a:extLst>
              <a:ext uri="{FF2B5EF4-FFF2-40B4-BE49-F238E27FC236}">
                <a16:creationId xmlns:a16="http://schemas.microsoft.com/office/drawing/2014/main" id="{48254229-251E-85F5-C00E-1E0DEE066183}"/>
              </a:ext>
            </a:extLst>
          </p:cNvPr>
          <p:cNvSpPr/>
          <p:nvPr/>
        </p:nvSpPr>
        <p:spPr>
          <a:xfrm>
            <a:off x="-275" y="162000"/>
            <a:ext cx="9153000" cy="588000"/>
          </a:xfrm>
          <a:prstGeom prst="rect">
            <a:avLst/>
          </a:prstGeom>
          <a:solidFill>
            <a:srgbClr val="D9E5F8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31">
            <a:extLst>
              <a:ext uri="{FF2B5EF4-FFF2-40B4-BE49-F238E27FC236}">
                <a16:creationId xmlns:a16="http://schemas.microsoft.com/office/drawing/2014/main" id="{4EB1A23A-E2D1-DAF3-71B8-C70817033242}"/>
              </a:ext>
            </a:extLst>
          </p:cNvPr>
          <p:cNvSpPr/>
          <p:nvPr/>
        </p:nvSpPr>
        <p:spPr>
          <a:xfrm>
            <a:off x="4160520" y="0"/>
            <a:ext cx="4995000" cy="162000"/>
          </a:xfrm>
          <a:prstGeom prst="rect">
            <a:avLst/>
          </a:prstGeom>
          <a:solidFill>
            <a:srgbClr val="341BF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31">
            <a:extLst>
              <a:ext uri="{FF2B5EF4-FFF2-40B4-BE49-F238E27FC236}">
                <a16:creationId xmlns:a16="http://schemas.microsoft.com/office/drawing/2014/main" id="{7238386E-5061-88BA-6545-9B3AF1B6698D}"/>
              </a:ext>
            </a:extLst>
          </p:cNvPr>
          <p:cNvSpPr/>
          <p:nvPr/>
        </p:nvSpPr>
        <p:spPr>
          <a:xfrm>
            <a:off x="2858" y="0"/>
            <a:ext cx="4158000" cy="162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31">
            <a:extLst>
              <a:ext uri="{FF2B5EF4-FFF2-40B4-BE49-F238E27FC236}">
                <a16:creationId xmlns:a16="http://schemas.microsoft.com/office/drawing/2014/main" id="{754DE9C1-4448-3449-8C8C-37C4A6FDF6DC}"/>
              </a:ext>
            </a:extLst>
          </p:cNvPr>
          <p:cNvSpPr/>
          <p:nvPr/>
        </p:nvSpPr>
        <p:spPr>
          <a:xfrm>
            <a:off x="4927108" y="4972928"/>
            <a:ext cx="4239000" cy="162000"/>
          </a:xfrm>
          <a:prstGeom prst="rect">
            <a:avLst/>
          </a:prstGeom>
          <a:solidFill>
            <a:srgbClr val="341BF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31">
            <a:extLst>
              <a:ext uri="{FF2B5EF4-FFF2-40B4-BE49-F238E27FC236}">
                <a16:creationId xmlns:a16="http://schemas.microsoft.com/office/drawing/2014/main" id="{1C935955-8905-EBCE-B9CE-C42D45DF2747}"/>
              </a:ext>
            </a:extLst>
          </p:cNvPr>
          <p:cNvSpPr/>
          <p:nvPr/>
        </p:nvSpPr>
        <p:spPr>
          <a:xfrm>
            <a:off x="-8853" y="4972928"/>
            <a:ext cx="4941000" cy="162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31">
            <a:extLst>
              <a:ext uri="{FF2B5EF4-FFF2-40B4-BE49-F238E27FC236}">
                <a16:creationId xmlns:a16="http://schemas.microsoft.com/office/drawing/2014/main" id="{485144A8-683A-BD4C-471C-DBB1661C47A4}"/>
              </a:ext>
            </a:extLst>
          </p:cNvPr>
          <p:cNvSpPr txBox="1"/>
          <p:nvPr/>
        </p:nvSpPr>
        <p:spPr>
          <a:xfrm>
            <a:off x="-8850" y="164450"/>
            <a:ext cx="9144000" cy="5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Flow diagram/Architecture</a:t>
            </a:r>
            <a:endParaRPr sz="30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9" name="Google Shape;209;p31">
            <a:extLst>
              <a:ext uri="{FF2B5EF4-FFF2-40B4-BE49-F238E27FC236}">
                <a16:creationId xmlns:a16="http://schemas.microsoft.com/office/drawing/2014/main" id="{70CBA60D-51E1-1D5D-D492-7D2896BBED77}"/>
              </a:ext>
            </a:extLst>
          </p:cNvPr>
          <p:cNvSpPr txBox="1"/>
          <p:nvPr/>
        </p:nvSpPr>
        <p:spPr>
          <a:xfrm>
            <a:off x="8803958" y="4921958"/>
            <a:ext cx="3399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6</a:t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12E7696-2EDD-2328-DE27-84DA3C4FC08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9630" b="31924"/>
          <a:stretch>
            <a:fillRect/>
          </a:stretch>
        </p:blipFill>
        <p:spPr>
          <a:xfrm>
            <a:off x="1519496" y="843281"/>
            <a:ext cx="6105007" cy="4138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17309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>
          <a:extLst>
            <a:ext uri="{FF2B5EF4-FFF2-40B4-BE49-F238E27FC236}">
              <a16:creationId xmlns:a16="http://schemas.microsoft.com/office/drawing/2014/main" id="{B873BA96-AB32-D779-97D0-8D50F86A0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1">
            <a:extLst>
              <a:ext uri="{FF2B5EF4-FFF2-40B4-BE49-F238E27FC236}">
                <a16:creationId xmlns:a16="http://schemas.microsoft.com/office/drawing/2014/main" id="{79CB4F78-FCBE-FAB9-41A3-AC1F061CD544}"/>
              </a:ext>
            </a:extLst>
          </p:cNvPr>
          <p:cNvSpPr/>
          <p:nvPr/>
        </p:nvSpPr>
        <p:spPr>
          <a:xfrm>
            <a:off x="-275" y="162000"/>
            <a:ext cx="9153000" cy="588000"/>
          </a:xfrm>
          <a:prstGeom prst="rect">
            <a:avLst/>
          </a:prstGeom>
          <a:solidFill>
            <a:srgbClr val="D9E5F8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31">
            <a:extLst>
              <a:ext uri="{FF2B5EF4-FFF2-40B4-BE49-F238E27FC236}">
                <a16:creationId xmlns:a16="http://schemas.microsoft.com/office/drawing/2014/main" id="{CEA370E7-4244-2406-6D24-942CF18BEA30}"/>
              </a:ext>
            </a:extLst>
          </p:cNvPr>
          <p:cNvSpPr/>
          <p:nvPr/>
        </p:nvSpPr>
        <p:spPr>
          <a:xfrm>
            <a:off x="4160520" y="0"/>
            <a:ext cx="4995000" cy="162000"/>
          </a:xfrm>
          <a:prstGeom prst="rect">
            <a:avLst/>
          </a:prstGeom>
          <a:solidFill>
            <a:srgbClr val="341BF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31">
            <a:extLst>
              <a:ext uri="{FF2B5EF4-FFF2-40B4-BE49-F238E27FC236}">
                <a16:creationId xmlns:a16="http://schemas.microsoft.com/office/drawing/2014/main" id="{ECA25725-E41D-54C6-CB84-52AB5EFD09E5}"/>
              </a:ext>
            </a:extLst>
          </p:cNvPr>
          <p:cNvSpPr/>
          <p:nvPr/>
        </p:nvSpPr>
        <p:spPr>
          <a:xfrm>
            <a:off x="2858" y="0"/>
            <a:ext cx="4158000" cy="162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31">
            <a:extLst>
              <a:ext uri="{FF2B5EF4-FFF2-40B4-BE49-F238E27FC236}">
                <a16:creationId xmlns:a16="http://schemas.microsoft.com/office/drawing/2014/main" id="{BC188B31-BB77-E864-2B21-CCC8BDB934DF}"/>
              </a:ext>
            </a:extLst>
          </p:cNvPr>
          <p:cNvSpPr/>
          <p:nvPr/>
        </p:nvSpPr>
        <p:spPr>
          <a:xfrm>
            <a:off x="4927108" y="4972928"/>
            <a:ext cx="4239000" cy="162000"/>
          </a:xfrm>
          <a:prstGeom prst="rect">
            <a:avLst/>
          </a:prstGeom>
          <a:solidFill>
            <a:srgbClr val="341BF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31">
            <a:extLst>
              <a:ext uri="{FF2B5EF4-FFF2-40B4-BE49-F238E27FC236}">
                <a16:creationId xmlns:a16="http://schemas.microsoft.com/office/drawing/2014/main" id="{847B2A74-3A74-9B5B-8E01-A92E980769E8}"/>
              </a:ext>
            </a:extLst>
          </p:cNvPr>
          <p:cNvSpPr/>
          <p:nvPr/>
        </p:nvSpPr>
        <p:spPr>
          <a:xfrm>
            <a:off x="-8853" y="4972928"/>
            <a:ext cx="4941000" cy="162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31">
            <a:extLst>
              <a:ext uri="{FF2B5EF4-FFF2-40B4-BE49-F238E27FC236}">
                <a16:creationId xmlns:a16="http://schemas.microsoft.com/office/drawing/2014/main" id="{88718863-D4BC-D33E-43A0-0714B2BE047B}"/>
              </a:ext>
            </a:extLst>
          </p:cNvPr>
          <p:cNvSpPr txBox="1"/>
          <p:nvPr/>
        </p:nvSpPr>
        <p:spPr>
          <a:xfrm>
            <a:off x="-8850" y="164450"/>
            <a:ext cx="9144000" cy="5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Flow diagram/Architecture</a:t>
            </a:r>
            <a:endParaRPr sz="30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9" name="Google Shape;209;p31">
            <a:extLst>
              <a:ext uri="{FF2B5EF4-FFF2-40B4-BE49-F238E27FC236}">
                <a16:creationId xmlns:a16="http://schemas.microsoft.com/office/drawing/2014/main" id="{EB9DAEDB-9BDB-680B-580F-089D9552C9BE}"/>
              </a:ext>
            </a:extLst>
          </p:cNvPr>
          <p:cNvSpPr txBox="1"/>
          <p:nvPr/>
        </p:nvSpPr>
        <p:spPr>
          <a:xfrm>
            <a:off x="8803958" y="4921958"/>
            <a:ext cx="3399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6</a:t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E44713-3068-54B6-E296-2116AD4ECE9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6775"/>
          <a:stretch>
            <a:fillRect/>
          </a:stretch>
        </p:blipFill>
        <p:spPr>
          <a:xfrm>
            <a:off x="877230" y="800970"/>
            <a:ext cx="7107460" cy="4163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42545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5"/>
          <p:cNvSpPr/>
          <p:nvPr/>
        </p:nvSpPr>
        <p:spPr>
          <a:xfrm>
            <a:off x="-275" y="162000"/>
            <a:ext cx="9153000" cy="588000"/>
          </a:xfrm>
          <a:prstGeom prst="rect">
            <a:avLst/>
          </a:prstGeom>
          <a:solidFill>
            <a:srgbClr val="D9E5F8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35"/>
          <p:cNvSpPr/>
          <p:nvPr/>
        </p:nvSpPr>
        <p:spPr>
          <a:xfrm>
            <a:off x="4160520" y="0"/>
            <a:ext cx="4995000" cy="162000"/>
          </a:xfrm>
          <a:prstGeom prst="rect">
            <a:avLst/>
          </a:prstGeom>
          <a:solidFill>
            <a:srgbClr val="341BF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35"/>
          <p:cNvSpPr/>
          <p:nvPr/>
        </p:nvSpPr>
        <p:spPr>
          <a:xfrm>
            <a:off x="2858" y="0"/>
            <a:ext cx="4158000" cy="162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35"/>
          <p:cNvSpPr/>
          <p:nvPr/>
        </p:nvSpPr>
        <p:spPr>
          <a:xfrm>
            <a:off x="-8853" y="4972928"/>
            <a:ext cx="4941000" cy="162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35"/>
          <p:cNvSpPr txBox="1"/>
          <p:nvPr/>
        </p:nvSpPr>
        <p:spPr>
          <a:xfrm>
            <a:off x="-8850" y="164450"/>
            <a:ext cx="9144000" cy="5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Timeline</a:t>
            </a:r>
            <a:endParaRPr sz="30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59" name="Google Shape;259;p35"/>
          <p:cNvGraphicFramePr/>
          <p:nvPr>
            <p:extLst>
              <p:ext uri="{D42A27DB-BD31-4B8C-83A1-F6EECF244321}">
                <p14:modId xmlns:p14="http://schemas.microsoft.com/office/powerpoint/2010/main" val="3634676877"/>
              </p:ext>
            </p:extLst>
          </p:nvPr>
        </p:nvGraphicFramePr>
        <p:xfrm>
          <a:off x="952500" y="1619250"/>
          <a:ext cx="7239000" cy="2590620"/>
        </p:xfrm>
        <a:graphic>
          <a:graphicData uri="http://schemas.openxmlformats.org/drawingml/2006/table">
            <a:tbl>
              <a:tblPr>
                <a:noFill/>
                <a:tableStyleId>{8B16C3E8-A3B4-4CAE-A72B-9407BAFACDD6}</a:tableStyleId>
              </a:tblPr>
              <a:tblGrid>
                <a:gridCol w="1520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8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1" dirty="0">
                          <a:solidFill>
                            <a:schemeClr val="lt1"/>
                          </a:solidFill>
                          <a:latin typeface="Poppins" panose="00000500000000000000" pitchFamily="2" charset="0"/>
                          <a:ea typeface="Poppins"/>
                          <a:cs typeface="Poppins" panose="00000500000000000000" pitchFamily="2" charset="0"/>
                          <a:sym typeface="Poppins"/>
                        </a:rPr>
                        <a:t>Week</a:t>
                      </a:r>
                      <a:endParaRPr sz="1400" b="1" dirty="0">
                        <a:solidFill>
                          <a:schemeClr val="lt1"/>
                        </a:solidFill>
                        <a:latin typeface="Poppins" panose="00000500000000000000" pitchFamily="2" charset="0"/>
                        <a:ea typeface="Poppins"/>
                        <a:cs typeface="Poppins" panose="00000500000000000000" pitchFamily="2" charset="0"/>
                        <a:sym typeface="Poppins"/>
                      </a:endParaRPr>
                    </a:p>
                  </a:txBody>
                  <a:tcPr marL="91425" marR="91425" marT="91425" marB="91425"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1E2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1" dirty="0">
                          <a:solidFill>
                            <a:schemeClr val="lt1"/>
                          </a:solidFill>
                          <a:latin typeface="Poppins" panose="00000500000000000000" pitchFamily="2" charset="0"/>
                          <a:ea typeface="Poppins"/>
                          <a:cs typeface="Poppins" panose="00000500000000000000" pitchFamily="2" charset="0"/>
                          <a:sym typeface="Poppins"/>
                        </a:rPr>
                        <a:t>Task</a:t>
                      </a:r>
                      <a:endParaRPr sz="1400" b="1" dirty="0">
                        <a:solidFill>
                          <a:schemeClr val="lt1"/>
                        </a:solidFill>
                        <a:latin typeface="Poppins" panose="00000500000000000000" pitchFamily="2" charset="0"/>
                        <a:ea typeface="Poppins"/>
                        <a:cs typeface="Poppins" panose="00000500000000000000" pitchFamily="2" charset="0"/>
                        <a:sym typeface="Poppins"/>
                      </a:endParaRPr>
                    </a:p>
                  </a:txBody>
                  <a:tcPr marL="91425" marR="91425" marT="91425" marB="91425"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41B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dirty="0">
                          <a:latin typeface="Poppins" panose="00000500000000000000" pitchFamily="2" charset="0"/>
                          <a:ea typeface="Poppins"/>
                          <a:cs typeface="Poppins" panose="00000500000000000000" pitchFamily="2" charset="0"/>
                          <a:sym typeface="Poppins"/>
                        </a:rPr>
                        <a:t>Weeks 1-3</a:t>
                      </a:r>
                      <a:endParaRPr sz="1400" dirty="0">
                        <a:latin typeface="Poppins" panose="00000500000000000000" pitchFamily="2" charset="0"/>
                        <a:ea typeface="Poppins"/>
                        <a:cs typeface="Poppins" panose="00000500000000000000" pitchFamily="2" charset="0"/>
                        <a:sym typeface="Poppi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dirty="0">
                          <a:latin typeface="Poppins" panose="00000500000000000000" pitchFamily="2" charset="0"/>
                          <a:ea typeface="Poppins"/>
                          <a:cs typeface="Poppins" panose="00000500000000000000" pitchFamily="2" charset="0"/>
                          <a:sym typeface="Poppins"/>
                        </a:rPr>
                        <a:t>Topic Selection, Team Formation, &amp; Synopsis Submission</a:t>
                      </a:r>
                      <a:endParaRPr sz="1400" dirty="0">
                        <a:latin typeface="Poppins" panose="00000500000000000000" pitchFamily="2" charset="0"/>
                        <a:ea typeface="Poppins"/>
                        <a:cs typeface="Poppins" panose="00000500000000000000" pitchFamily="2" charset="0"/>
                        <a:sym typeface="Poppi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FA8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>
                          <a:latin typeface="Poppins" panose="00000500000000000000" pitchFamily="2" charset="0"/>
                          <a:ea typeface="Poppins"/>
                          <a:cs typeface="Poppins" panose="00000500000000000000" pitchFamily="2" charset="0"/>
                          <a:sym typeface="Poppins"/>
                        </a:rPr>
                        <a:t>Weeks 4-6</a:t>
                      </a:r>
                      <a:endParaRPr sz="1400">
                        <a:latin typeface="Poppins" panose="00000500000000000000" pitchFamily="2" charset="0"/>
                        <a:ea typeface="Poppins"/>
                        <a:cs typeface="Poppins" panose="00000500000000000000" pitchFamily="2" charset="0"/>
                        <a:sym typeface="Poppi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dirty="0">
                          <a:latin typeface="Poppins" panose="00000500000000000000" pitchFamily="2" charset="0"/>
                          <a:ea typeface="Poppins"/>
                          <a:cs typeface="Poppins" panose="00000500000000000000" pitchFamily="2" charset="0"/>
                          <a:sym typeface="Poppins"/>
                        </a:rPr>
                        <a:t>Data Collection, Literature Review, Backend Integration &amp; Mid-Term Viva</a:t>
                      </a:r>
                      <a:endParaRPr sz="1400" dirty="0">
                        <a:latin typeface="Poppins" panose="00000500000000000000" pitchFamily="2" charset="0"/>
                        <a:ea typeface="Poppins"/>
                        <a:cs typeface="Poppins" panose="00000500000000000000" pitchFamily="2" charset="0"/>
                        <a:sym typeface="Poppi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FC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>
                          <a:solidFill>
                            <a:schemeClr val="dk1"/>
                          </a:solidFill>
                          <a:latin typeface="Poppins" panose="00000500000000000000" pitchFamily="2" charset="0"/>
                          <a:ea typeface="Poppins"/>
                          <a:cs typeface="Poppins" panose="00000500000000000000" pitchFamily="2" charset="0"/>
                          <a:sym typeface="Poppins"/>
                        </a:rPr>
                        <a:t>Weeks 7-9</a:t>
                      </a:r>
                      <a:endParaRPr sz="1400">
                        <a:latin typeface="Poppins" panose="00000500000000000000" pitchFamily="2" charset="0"/>
                        <a:ea typeface="Poppins"/>
                        <a:cs typeface="Poppins" panose="00000500000000000000" pitchFamily="2" charset="0"/>
                        <a:sym typeface="Poppi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Re-designing the "Burnout Algorithm" &amp; Database Schema.</a:t>
                      </a:r>
                      <a:endParaRPr sz="1400" dirty="0">
                        <a:latin typeface="Poppins" panose="00000500000000000000" pitchFamily="2" charset="0"/>
                        <a:ea typeface="Poppins"/>
                        <a:cs typeface="Poppins" panose="00000500000000000000" pitchFamily="2" charset="0"/>
                        <a:sym typeface="Poppi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FA8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>
                          <a:solidFill>
                            <a:schemeClr val="dk1"/>
                          </a:solidFill>
                          <a:latin typeface="Poppins" panose="00000500000000000000" pitchFamily="2" charset="0"/>
                          <a:ea typeface="Poppins"/>
                          <a:cs typeface="Poppins" panose="00000500000000000000" pitchFamily="2" charset="0"/>
                          <a:sym typeface="Poppins"/>
                        </a:rPr>
                        <a:t>Weeks 10-11</a:t>
                      </a:r>
                      <a:endParaRPr sz="1400">
                        <a:latin typeface="Poppins" panose="00000500000000000000" pitchFamily="2" charset="0"/>
                        <a:ea typeface="Poppins"/>
                        <a:cs typeface="Poppins" panose="00000500000000000000" pitchFamily="2" charset="0"/>
                        <a:sym typeface="Poppi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Frontend Development (Dashboard &amp; Editing Suite).</a:t>
                      </a:r>
                      <a:endParaRPr sz="1400" dirty="0">
                        <a:latin typeface="Poppins" panose="00000500000000000000" pitchFamily="2" charset="0"/>
                        <a:ea typeface="Poppins"/>
                        <a:cs typeface="Poppins" panose="00000500000000000000" pitchFamily="2" charset="0"/>
                        <a:sym typeface="Poppi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FC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>
                          <a:solidFill>
                            <a:schemeClr val="dk1"/>
                          </a:solidFill>
                          <a:latin typeface="Poppins" panose="00000500000000000000" pitchFamily="2" charset="0"/>
                          <a:ea typeface="Poppins"/>
                          <a:cs typeface="Poppins" panose="00000500000000000000" pitchFamily="2" charset="0"/>
                          <a:sym typeface="Poppins"/>
                        </a:rPr>
                        <a:t>Weeks 12-14</a:t>
                      </a:r>
                      <a:endParaRPr sz="1400">
                        <a:latin typeface="Poppins" panose="00000500000000000000" pitchFamily="2" charset="0"/>
                        <a:ea typeface="Poppins"/>
                        <a:cs typeface="Poppins" panose="00000500000000000000" pitchFamily="2" charset="0"/>
                        <a:sym typeface="Poppi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dirty="0">
                          <a:latin typeface="Poppins" panose="00000500000000000000" pitchFamily="2" charset="0"/>
                          <a:ea typeface="Poppins"/>
                          <a:cs typeface="Poppins" panose="00000500000000000000" pitchFamily="2" charset="0"/>
                          <a:sym typeface="Poppins"/>
                        </a:rPr>
                        <a:t>Final Report Writing, Demo Video, &amp; Final Submission</a:t>
                      </a:r>
                      <a:endParaRPr sz="1400" dirty="0">
                        <a:latin typeface="Poppins" panose="00000500000000000000" pitchFamily="2" charset="0"/>
                        <a:ea typeface="Poppins"/>
                        <a:cs typeface="Poppins" panose="00000500000000000000" pitchFamily="2" charset="0"/>
                        <a:sym typeface="Poppi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FA8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2"/>
          <p:cNvSpPr/>
          <p:nvPr/>
        </p:nvSpPr>
        <p:spPr>
          <a:xfrm>
            <a:off x="-275" y="162000"/>
            <a:ext cx="9153000" cy="588000"/>
          </a:xfrm>
          <a:prstGeom prst="rect">
            <a:avLst/>
          </a:prstGeom>
          <a:solidFill>
            <a:srgbClr val="D9E5F8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32"/>
          <p:cNvSpPr/>
          <p:nvPr/>
        </p:nvSpPr>
        <p:spPr>
          <a:xfrm>
            <a:off x="4160520" y="0"/>
            <a:ext cx="4995000" cy="162000"/>
          </a:xfrm>
          <a:prstGeom prst="rect">
            <a:avLst/>
          </a:prstGeom>
          <a:solidFill>
            <a:srgbClr val="341BF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32"/>
          <p:cNvSpPr/>
          <p:nvPr/>
        </p:nvSpPr>
        <p:spPr>
          <a:xfrm>
            <a:off x="2858" y="0"/>
            <a:ext cx="4158000" cy="162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32"/>
          <p:cNvSpPr/>
          <p:nvPr/>
        </p:nvSpPr>
        <p:spPr>
          <a:xfrm>
            <a:off x="4927108" y="4972928"/>
            <a:ext cx="4239000" cy="162000"/>
          </a:xfrm>
          <a:prstGeom prst="rect">
            <a:avLst/>
          </a:prstGeom>
          <a:solidFill>
            <a:srgbClr val="341BF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32"/>
          <p:cNvSpPr/>
          <p:nvPr/>
        </p:nvSpPr>
        <p:spPr>
          <a:xfrm>
            <a:off x="-8853" y="4972928"/>
            <a:ext cx="4941000" cy="162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32"/>
          <p:cNvSpPr txBox="1"/>
          <p:nvPr/>
        </p:nvSpPr>
        <p:spPr>
          <a:xfrm>
            <a:off x="-8850" y="164450"/>
            <a:ext cx="9144000" cy="5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and Resources</a:t>
            </a:r>
            <a:endParaRPr sz="30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2" name="Google Shape;222;p32"/>
          <p:cNvSpPr txBox="1"/>
          <p:nvPr/>
        </p:nvSpPr>
        <p:spPr>
          <a:xfrm>
            <a:off x="8803958" y="4921958"/>
            <a:ext cx="3399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7</a:t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FCE34896-846B-F642-4FDB-F0A56C11B6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3640" y="1291803"/>
            <a:ext cx="8125540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Data Sources:</a:t>
            </a: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Student Stress Dataset (Kaggle):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For calibration of lifestyle metrics (Sleep, Study, Stress).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Student Mental Health Dataset: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For validating risk factors.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Reddit Mental Health Text: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Used to test the VADER sentiment engine on informal language.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Hardware/Software:</a:t>
            </a: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Language: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Python 3.x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Database: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SQLite (Session storage)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IDE: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VS Code / PyCharm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0"/>
          <p:cNvSpPr/>
          <p:nvPr/>
        </p:nvSpPr>
        <p:spPr>
          <a:xfrm>
            <a:off x="-275" y="169620"/>
            <a:ext cx="9153000" cy="588000"/>
          </a:xfrm>
          <a:prstGeom prst="rect">
            <a:avLst/>
          </a:prstGeom>
          <a:solidFill>
            <a:srgbClr val="D9E5F8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30"/>
          <p:cNvSpPr/>
          <p:nvPr/>
        </p:nvSpPr>
        <p:spPr>
          <a:xfrm>
            <a:off x="4160520" y="0"/>
            <a:ext cx="4995000" cy="162000"/>
          </a:xfrm>
          <a:prstGeom prst="rect">
            <a:avLst/>
          </a:prstGeom>
          <a:solidFill>
            <a:srgbClr val="341BF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30"/>
          <p:cNvSpPr/>
          <p:nvPr/>
        </p:nvSpPr>
        <p:spPr>
          <a:xfrm>
            <a:off x="2858" y="0"/>
            <a:ext cx="4158000" cy="162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30"/>
          <p:cNvSpPr/>
          <p:nvPr/>
        </p:nvSpPr>
        <p:spPr>
          <a:xfrm>
            <a:off x="4927108" y="4972928"/>
            <a:ext cx="4239000" cy="162000"/>
          </a:xfrm>
          <a:prstGeom prst="rect">
            <a:avLst/>
          </a:prstGeom>
          <a:solidFill>
            <a:srgbClr val="341BF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30"/>
          <p:cNvSpPr/>
          <p:nvPr/>
        </p:nvSpPr>
        <p:spPr>
          <a:xfrm>
            <a:off x="-8853" y="4972928"/>
            <a:ext cx="4941000" cy="162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30"/>
          <p:cNvSpPr txBox="1"/>
          <p:nvPr/>
        </p:nvSpPr>
        <p:spPr>
          <a:xfrm>
            <a:off x="-8850" y="164450"/>
            <a:ext cx="5580900" cy="5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Usecases &amp; Scope</a:t>
            </a:r>
            <a:endParaRPr sz="30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7" name="Google Shape;197;p30"/>
          <p:cNvSpPr txBox="1"/>
          <p:nvPr/>
        </p:nvSpPr>
        <p:spPr>
          <a:xfrm>
            <a:off x="8803958" y="4921958"/>
            <a:ext cx="3399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5</a:t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1F7DD073-9124-4D25-8DB4-5770E4D6DD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650" y="1060252"/>
            <a:ext cx="7791450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Target Audience / Use-cases:</a:t>
            </a: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University Counselors: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To identify "High Risk" students who need immediate intervention.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Administrators: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To track semester-wide stress trends against exam schedules.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Researchers: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To correlate lifestyle habits (sleep vs. study) with mental health outcomes.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Project Scope:</a:t>
            </a: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In-Scope: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Web interface, Data cleaning, Burnout Algorithm, Sentiment Analysis, Visualization.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Out-of-Scope: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Medical diagnosis, mobile app version, integration with live biometric sensors.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4"/>
          <p:cNvSpPr/>
          <p:nvPr/>
        </p:nvSpPr>
        <p:spPr>
          <a:xfrm>
            <a:off x="-275" y="162000"/>
            <a:ext cx="9153000" cy="588000"/>
          </a:xfrm>
          <a:prstGeom prst="rect">
            <a:avLst/>
          </a:prstGeom>
          <a:solidFill>
            <a:srgbClr val="D9E5F8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34"/>
          <p:cNvSpPr/>
          <p:nvPr/>
        </p:nvSpPr>
        <p:spPr>
          <a:xfrm>
            <a:off x="4160520" y="0"/>
            <a:ext cx="4995000" cy="162000"/>
          </a:xfrm>
          <a:prstGeom prst="rect">
            <a:avLst/>
          </a:prstGeom>
          <a:solidFill>
            <a:srgbClr val="341BF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34"/>
          <p:cNvSpPr/>
          <p:nvPr/>
        </p:nvSpPr>
        <p:spPr>
          <a:xfrm>
            <a:off x="2858" y="0"/>
            <a:ext cx="4158000" cy="162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34"/>
          <p:cNvSpPr/>
          <p:nvPr/>
        </p:nvSpPr>
        <p:spPr>
          <a:xfrm>
            <a:off x="4927108" y="4972928"/>
            <a:ext cx="4239000" cy="162000"/>
          </a:xfrm>
          <a:prstGeom prst="rect">
            <a:avLst/>
          </a:prstGeom>
          <a:solidFill>
            <a:srgbClr val="341BF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34"/>
          <p:cNvSpPr/>
          <p:nvPr/>
        </p:nvSpPr>
        <p:spPr>
          <a:xfrm>
            <a:off x="-8853" y="4972928"/>
            <a:ext cx="4941000" cy="162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34"/>
          <p:cNvSpPr txBox="1"/>
          <p:nvPr/>
        </p:nvSpPr>
        <p:spPr>
          <a:xfrm>
            <a:off x="-8850" y="164450"/>
            <a:ext cx="9144000" cy="5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Expected Results &amp; Impact</a:t>
            </a:r>
            <a:endParaRPr sz="30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6" name="Google Shape;246;p34"/>
          <p:cNvSpPr txBox="1"/>
          <p:nvPr/>
        </p:nvSpPr>
        <p:spPr>
          <a:xfrm>
            <a:off x="8803958" y="4921958"/>
            <a:ext cx="3399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9</a:t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02831BFC-C5EF-AFC2-2165-67C1E8B73D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515" y="1198858"/>
            <a:ext cx="8656886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Deliverables:</a:t>
            </a: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A fully functional web tool for real-time mental health monitoring.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Visual risk profiling (Pie Charts &amp; Histograms).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Impact:</a:t>
            </a: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Early Detection: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Shifts focus from "Lagging Indicators" (Grades) to "Leading Indicators" (Sleep/Sentiment).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Data Integrity: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Empowers educators to trust their data by removing outliers before analysis.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Holistic View: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Bridges the gap between hard numbers and human feelings.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6"/>
          <p:cNvSpPr/>
          <p:nvPr/>
        </p:nvSpPr>
        <p:spPr>
          <a:xfrm>
            <a:off x="-275" y="162000"/>
            <a:ext cx="9153000" cy="588000"/>
          </a:xfrm>
          <a:prstGeom prst="rect">
            <a:avLst/>
          </a:prstGeom>
          <a:solidFill>
            <a:srgbClr val="D9E5F8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36"/>
          <p:cNvSpPr/>
          <p:nvPr/>
        </p:nvSpPr>
        <p:spPr>
          <a:xfrm>
            <a:off x="4160520" y="0"/>
            <a:ext cx="4995000" cy="162000"/>
          </a:xfrm>
          <a:prstGeom prst="rect">
            <a:avLst/>
          </a:prstGeom>
          <a:solidFill>
            <a:srgbClr val="341BF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36"/>
          <p:cNvSpPr/>
          <p:nvPr/>
        </p:nvSpPr>
        <p:spPr>
          <a:xfrm>
            <a:off x="2858" y="0"/>
            <a:ext cx="4158000" cy="162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36"/>
          <p:cNvSpPr/>
          <p:nvPr/>
        </p:nvSpPr>
        <p:spPr>
          <a:xfrm>
            <a:off x="4927108" y="4972928"/>
            <a:ext cx="4239000" cy="162000"/>
          </a:xfrm>
          <a:prstGeom prst="rect">
            <a:avLst/>
          </a:prstGeom>
          <a:solidFill>
            <a:srgbClr val="341BF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36"/>
          <p:cNvSpPr/>
          <p:nvPr/>
        </p:nvSpPr>
        <p:spPr>
          <a:xfrm>
            <a:off x="-8853" y="4972928"/>
            <a:ext cx="4941000" cy="162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36"/>
          <p:cNvSpPr txBox="1"/>
          <p:nvPr/>
        </p:nvSpPr>
        <p:spPr>
          <a:xfrm>
            <a:off x="0" y="2040363"/>
            <a:ext cx="9144000" cy="105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4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</a:t>
            </a:r>
            <a:r>
              <a:rPr lang="en" sz="6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6400" b="1">
                <a:solidFill>
                  <a:srgbClr val="341BF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</a:t>
            </a:r>
            <a:endParaRPr sz="6400" b="1">
              <a:solidFill>
                <a:srgbClr val="341BF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0" name="Google Shape;270;p36"/>
          <p:cNvSpPr txBox="1"/>
          <p:nvPr/>
        </p:nvSpPr>
        <p:spPr>
          <a:xfrm>
            <a:off x="8803958" y="4921958"/>
            <a:ext cx="3399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11</a:t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1023</TotalTime>
  <Words>1238</Words>
  <Application>Microsoft Office PowerPoint</Application>
  <PresentationFormat>On-screen Show (16:9)</PresentationFormat>
  <Paragraphs>179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Google Sans Text</vt:lpstr>
      <vt:lpstr>Play</vt:lpstr>
      <vt:lpstr>Arial</vt:lpstr>
      <vt:lpstr>Times New Roman</vt:lpstr>
      <vt:lpstr>Nunito Sans</vt:lpstr>
      <vt:lpstr>Courier New</vt:lpstr>
      <vt:lpstr>Poppins</vt:lpstr>
      <vt:lpstr>Simple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Harsh Dev Jha</cp:lastModifiedBy>
  <cp:revision>44</cp:revision>
  <dcterms:modified xsi:type="dcterms:W3CDTF">2026-04-05T15:52:00Z</dcterms:modified>
</cp:coreProperties>
</file>